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58" r:id="rId6"/>
    <p:sldId id="261" r:id="rId7"/>
    <p:sldId id="269" r:id="rId8"/>
    <p:sldId id="268" r:id="rId9"/>
    <p:sldId id="262" r:id="rId10"/>
    <p:sldId id="263" r:id="rId11"/>
    <p:sldId id="264" r:id="rId12"/>
    <p:sldId id="267" r:id="rId13"/>
    <p:sldId id="265" r:id="rId14"/>
    <p:sldId id="266"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8ED82-E4CE-B0BD-34E2-72752F0175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C8D59B4-ADFD-171D-B5AC-3DD987588D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2327E4A-C2F7-8AF6-9876-96E91F41519D}"/>
              </a:ext>
            </a:extLst>
          </p:cNvPr>
          <p:cNvSpPr>
            <a:spLocks noGrp="1"/>
          </p:cNvSpPr>
          <p:nvPr>
            <p:ph type="dt" sz="half" idx="10"/>
          </p:nvPr>
        </p:nvSpPr>
        <p:spPr/>
        <p:txBody>
          <a:bodyPr/>
          <a:lstStyle/>
          <a:p>
            <a:fld id="{D319E75D-E495-4D6D-A130-EC5BE97C7ABD}" type="datetimeFigureOut">
              <a:rPr lang="en-GB" smtClean="0"/>
              <a:t>15/12/2025</a:t>
            </a:fld>
            <a:endParaRPr lang="en-GB"/>
          </a:p>
        </p:txBody>
      </p:sp>
      <p:sp>
        <p:nvSpPr>
          <p:cNvPr id="5" name="Footer Placeholder 4">
            <a:extLst>
              <a:ext uri="{FF2B5EF4-FFF2-40B4-BE49-F238E27FC236}">
                <a16:creationId xmlns:a16="http://schemas.microsoft.com/office/drawing/2014/main" id="{C53E4569-A8C0-ED7D-E8BD-E744D382F2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E3F26F-6A78-5248-F503-CA8DB5BF94D0}"/>
              </a:ext>
            </a:extLst>
          </p:cNvPr>
          <p:cNvSpPr>
            <a:spLocks noGrp="1"/>
          </p:cNvSpPr>
          <p:nvPr>
            <p:ph type="sldNum" sz="quarter" idx="12"/>
          </p:nvPr>
        </p:nvSpPr>
        <p:spPr/>
        <p:txBody>
          <a:bodyPr/>
          <a:lstStyle/>
          <a:p>
            <a:fld id="{B2418964-2A83-4133-8DBC-5197999B1B70}" type="slidenum">
              <a:rPr lang="en-GB" smtClean="0"/>
              <a:t>‹#›</a:t>
            </a:fld>
            <a:endParaRPr lang="en-GB"/>
          </a:p>
        </p:txBody>
      </p:sp>
    </p:spTree>
    <p:extLst>
      <p:ext uri="{BB962C8B-B14F-4D97-AF65-F5344CB8AC3E}">
        <p14:creationId xmlns:p14="http://schemas.microsoft.com/office/powerpoint/2010/main" val="1021861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D5A0A-E32D-5F0A-19D5-09A19AC4107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532B86A-910A-652B-5621-558FD8253D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E483F81-737D-4AAA-5F7B-C7E2F866E5A2}"/>
              </a:ext>
            </a:extLst>
          </p:cNvPr>
          <p:cNvSpPr>
            <a:spLocks noGrp="1"/>
          </p:cNvSpPr>
          <p:nvPr>
            <p:ph type="dt" sz="half" idx="10"/>
          </p:nvPr>
        </p:nvSpPr>
        <p:spPr/>
        <p:txBody>
          <a:bodyPr/>
          <a:lstStyle/>
          <a:p>
            <a:fld id="{D319E75D-E495-4D6D-A130-EC5BE97C7ABD}" type="datetimeFigureOut">
              <a:rPr lang="en-GB" smtClean="0"/>
              <a:t>15/12/2025</a:t>
            </a:fld>
            <a:endParaRPr lang="en-GB"/>
          </a:p>
        </p:txBody>
      </p:sp>
      <p:sp>
        <p:nvSpPr>
          <p:cNvPr id="5" name="Footer Placeholder 4">
            <a:extLst>
              <a:ext uri="{FF2B5EF4-FFF2-40B4-BE49-F238E27FC236}">
                <a16:creationId xmlns:a16="http://schemas.microsoft.com/office/drawing/2014/main" id="{BB7E37F5-DF6D-8254-8F29-FAA25998631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468627-3D31-EE2D-8F9B-182F14B55C1A}"/>
              </a:ext>
            </a:extLst>
          </p:cNvPr>
          <p:cNvSpPr>
            <a:spLocks noGrp="1"/>
          </p:cNvSpPr>
          <p:nvPr>
            <p:ph type="sldNum" sz="quarter" idx="12"/>
          </p:nvPr>
        </p:nvSpPr>
        <p:spPr/>
        <p:txBody>
          <a:bodyPr/>
          <a:lstStyle/>
          <a:p>
            <a:fld id="{B2418964-2A83-4133-8DBC-5197999B1B70}" type="slidenum">
              <a:rPr lang="en-GB" smtClean="0"/>
              <a:t>‹#›</a:t>
            </a:fld>
            <a:endParaRPr lang="en-GB"/>
          </a:p>
        </p:txBody>
      </p:sp>
    </p:spTree>
    <p:extLst>
      <p:ext uri="{BB962C8B-B14F-4D97-AF65-F5344CB8AC3E}">
        <p14:creationId xmlns:p14="http://schemas.microsoft.com/office/powerpoint/2010/main" val="2926467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4F3F-658E-D84F-3AFE-DA3A58F03A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1FA6506-4961-3BEA-A460-65213BD521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FDE125-9735-C074-130E-05394255105E}"/>
              </a:ext>
            </a:extLst>
          </p:cNvPr>
          <p:cNvSpPr>
            <a:spLocks noGrp="1"/>
          </p:cNvSpPr>
          <p:nvPr>
            <p:ph type="dt" sz="half" idx="10"/>
          </p:nvPr>
        </p:nvSpPr>
        <p:spPr/>
        <p:txBody>
          <a:bodyPr/>
          <a:lstStyle/>
          <a:p>
            <a:fld id="{D319E75D-E495-4D6D-A130-EC5BE97C7ABD}" type="datetimeFigureOut">
              <a:rPr lang="en-GB" smtClean="0"/>
              <a:t>15/12/2025</a:t>
            </a:fld>
            <a:endParaRPr lang="en-GB"/>
          </a:p>
        </p:txBody>
      </p:sp>
      <p:sp>
        <p:nvSpPr>
          <p:cNvPr id="5" name="Footer Placeholder 4">
            <a:extLst>
              <a:ext uri="{FF2B5EF4-FFF2-40B4-BE49-F238E27FC236}">
                <a16:creationId xmlns:a16="http://schemas.microsoft.com/office/drawing/2014/main" id="{F49315FC-D3D2-8A5C-5E2A-DB2FC10DC8A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1AFD58D-BB8E-5996-24AD-FD6E927BA328}"/>
              </a:ext>
            </a:extLst>
          </p:cNvPr>
          <p:cNvSpPr>
            <a:spLocks noGrp="1"/>
          </p:cNvSpPr>
          <p:nvPr>
            <p:ph type="sldNum" sz="quarter" idx="12"/>
          </p:nvPr>
        </p:nvSpPr>
        <p:spPr/>
        <p:txBody>
          <a:bodyPr/>
          <a:lstStyle/>
          <a:p>
            <a:fld id="{B2418964-2A83-4133-8DBC-5197999B1B70}" type="slidenum">
              <a:rPr lang="en-GB" smtClean="0"/>
              <a:t>‹#›</a:t>
            </a:fld>
            <a:endParaRPr lang="en-GB"/>
          </a:p>
        </p:txBody>
      </p:sp>
    </p:spTree>
    <p:extLst>
      <p:ext uri="{BB962C8B-B14F-4D97-AF65-F5344CB8AC3E}">
        <p14:creationId xmlns:p14="http://schemas.microsoft.com/office/powerpoint/2010/main" val="2847123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34B28-C291-351C-D151-0AEEABF985F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49286AF-B7AF-FECE-F8F6-869476E264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FB1C007-758C-88B4-48AF-08BDAED2BA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89C44B8-2B3D-1DF4-D752-B127E76C665C}"/>
              </a:ext>
            </a:extLst>
          </p:cNvPr>
          <p:cNvSpPr>
            <a:spLocks noGrp="1"/>
          </p:cNvSpPr>
          <p:nvPr>
            <p:ph type="dt" sz="half" idx="10"/>
          </p:nvPr>
        </p:nvSpPr>
        <p:spPr/>
        <p:txBody>
          <a:bodyPr/>
          <a:lstStyle/>
          <a:p>
            <a:fld id="{D319E75D-E495-4D6D-A130-EC5BE97C7ABD}" type="datetimeFigureOut">
              <a:rPr lang="en-GB" smtClean="0"/>
              <a:t>15/12/2025</a:t>
            </a:fld>
            <a:endParaRPr lang="en-GB"/>
          </a:p>
        </p:txBody>
      </p:sp>
      <p:sp>
        <p:nvSpPr>
          <p:cNvPr id="6" name="Footer Placeholder 5">
            <a:extLst>
              <a:ext uri="{FF2B5EF4-FFF2-40B4-BE49-F238E27FC236}">
                <a16:creationId xmlns:a16="http://schemas.microsoft.com/office/drawing/2014/main" id="{D039646B-7F02-CE48-4F1E-5E26508683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08431F1-B85E-F62E-1140-0001D930178C}"/>
              </a:ext>
            </a:extLst>
          </p:cNvPr>
          <p:cNvSpPr>
            <a:spLocks noGrp="1"/>
          </p:cNvSpPr>
          <p:nvPr>
            <p:ph type="sldNum" sz="quarter" idx="12"/>
          </p:nvPr>
        </p:nvSpPr>
        <p:spPr/>
        <p:txBody>
          <a:bodyPr/>
          <a:lstStyle/>
          <a:p>
            <a:fld id="{B2418964-2A83-4133-8DBC-5197999B1B70}" type="slidenum">
              <a:rPr lang="en-GB" smtClean="0"/>
              <a:t>‹#›</a:t>
            </a:fld>
            <a:endParaRPr lang="en-GB"/>
          </a:p>
        </p:txBody>
      </p:sp>
    </p:spTree>
    <p:extLst>
      <p:ext uri="{BB962C8B-B14F-4D97-AF65-F5344CB8AC3E}">
        <p14:creationId xmlns:p14="http://schemas.microsoft.com/office/powerpoint/2010/main" val="841709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898D6-537C-3FCC-8B38-E3071328B07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6AB1110-BE7D-F255-F413-15E443189B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56BB7B-8763-0F40-D353-E0FAB3E127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D683FDB2-E228-9FFE-DDB4-37F68FE441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464F5D4-FBBB-082F-E6BF-C85CC5A27E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9083E76-0B90-68C8-BC7D-8D42D49E95A3}"/>
              </a:ext>
            </a:extLst>
          </p:cNvPr>
          <p:cNvSpPr>
            <a:spLocks noGrp="1"/>
          </p:cNvSpPr>
          <p:nvPr>
            <p:ph type="dt" sz="half" idx="10"/>
          </p:nvPr>
        </p:nvSpPr>
        <p:spPr/>
        <p:txBody>
          <a:bodyPr/>
          <a:lstStyle/>
          <a:p>
            <a:fld id="{D319E75D-E495-4D6D-A130-EC5BE97C7ABD}" type="datetimeFigureOut">
              <a:rPr lang="en-GB" smtClean="0"/>
              <a:t>15/12/2025</a:t>
            </a:fld>
            <a:endParaRPr lang="en-GB"/>
          </a:p>
        </p:txBody>
      </p:sp>
      <p:sp>
        <p:nvSpPr>
          <p:cNvPr id="8" name="Footer Placeholder 7">
            <a:extLst>
              <a:ext uri="{FF2B5EF4-FFF2-40B4-BE49-F238E27FC236}">
                <a16:creationId xmlns:a16="http://schemas.microsoft.com/office/drawing/2014/main" id="{1121EEB2-540D-0819-E1ED-31AE5A8B67E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30A4C04-3700-A7EA-210A-86ECBF98A2E8}"/>
              </a:ext>
            </a:extLst>
          </p:cNvPr>
          <p:cNvSpPr>
            <a:spLocks noGrp="1"/>
          </p:cNvSpPr>
          <p:nvPr>
            <p:ph type="sldNum" sz="quarter" idx="12"/>
          </p:nvPr>
        </p:nvSpPr>
        <p:spPr/>
        <p:txBody>
          <a:bodyPr/>
          <a:lstStyle/>
          <a:p>
            <a:fld id="{B2418964-2A83-4133-8DBC-5197999B1B70}" type="slidenum">
              <a:rPr lang="en-GB" smtClean="0"/>
              <a:t>‹#›</a:t>
            </a:fld>
            <a:endParaRPr lang="en-GB"/>
          </a:p>
        </p:txBody>
      </p:sp>
    </p:spTree>
    <p:extLst>
      <p:ext uri="{BB962C8B-B14F-4D97-AF65-F5344CB8AC3E}">
        <p14:creationId xmlns:p14="http://schemas.microsoft.com/office/powerpoint/2010/main" val="1573564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1A1A0-1348-A82A-785A-709D05F0FBC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7FE1E43-173F-F926-33D6-50A778238B61}"/>
              </a:ext>
            </a:extLst>
          </p:cNvPr>
          <p:cNvSpPr>
            <a:spLocks noGrp="1"/>
          </p:cNvSpPr>
          <p:nvPr>
            <p:ph type="dt" sz="half" idx="10"/>
          </p:nvPr>
        </p:nvSpPr>
        <p:spPr/>
        <p:txBody>
          <a:bodyPr/>
          <a:lstStyle/>
          <a:p>
            <a:fld id="{D319E75D-E495-4D6D-A130-EC5BE97C7ABD}" type="datetimeFigureOut">
              <a:rPr lang="en-GB" smtClean="0"/>
              <a:t>15/12/2025</a:t>
            </a:fld>
            <a:endParaRPr lang="en-GB"/>
          </a:p>
        </p:txBody>
      </p:sp>
      <p:sp>
        <p:nvSpPr>
          <p:cNvPr id="4" name="Footer Placeholder 3">
            <a:extLst>
              <a:ext uri="{FF2B5EF4-FFF2-40B4-BE49-F238E27FC236}">
                <a16:creationId xmlns:a16="http://schemas.microsoft.com/office/drawing/2014/main" id="{2B94CF25-7AF3-FF1A-5759-43E19D70416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87037E2-320E-479F-0069-0AB3F39698E4}"/>
              </a:ext>
            </a:extLst>
          </p:cNvPr>
          <p:cNvSpPr>
            <a:spLocks noGrp="1"/>
          </p:cNvSpPr>
          <p:nvPr>
            <p:ph type="sldNum" sz="quarter" idx="12"/>
          </p:nvPr>
        </p:nvSpPr>
        <p:spPr/>
        <p:txBody>
          <a:bodyPr/>
          <a:lstStyle/>
          <a:p>
            <a:fld id="{B2418964-2A83-4133-8DBC-5197999B1B70}" type="slidenum">
              <a:rPr lang="en-GB" smtClean="0"/>
              <a:t>‹#›</a:t>
            </a:fld>
            <a:endParaRPr lang="en-GB"/>
          </a:p>
        </p:txBody>
      </p:sp>
    </p:spTree>
    <p:extLst>
      <p:ext uri="{BB962C8B-B14F-4D97-AF65-F5344CB8AC3E}">
        <p14:creationId xmlns:p14="http://schemas.microsoft.com/office/powerpoint/2010/main" val="3369900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0833B4-C2BE-F318-C130-1A21A2095B36}"/>
              </a:ext>
            </a:extLst>
          </p:cNvPr>
          <p:cNvSpPr>
            <a:spLocks noGrp="1"/>
          </p:cNvSpPr>
          <p:nvPr>
            <p:ph type="dt" sz="half" idx="10"/>
          </p:nvPr>
        </p:nvSpPr>
        <p:spPr/>
        <p:txBody>
          <a:bodyPr/>
          <a:lstStyle/>
          <a:p>
            <a:fld id="{D319E75D-E495-4D6D-A130-EC5BE97C7ABD}" type="datetimeFigureOut">
              <a:rPr lang="en-GB" smtClean="0"/>
              <a:t>15/12/2025</a:t>
            </a:fld>
            <a:endParaRPr lang="en-GB"/>
          </a:p>
        </p:txBody>
      </p:sp>
      <p:sp>
        <p:nvSpPr>
          <p:cNvPr id="3" name="Footer Placeholder 2">
            <a:extLst>
              <a:ext uri="{FF2B5EF4-FFF2-40B4-BE49-F238E27FC236}">
                <a16:creationId xmlns:a16="http://schemas.microsoft.com/office/drawing/2014/main" id="{E5604CDA-577D-6F16-CF14-16125951369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9CA848B0-C057-3E01-4AE8-DCC998AC076A}"/>
              </a:ext>
            </a:extLst>
          </p:cNvPr>
          <p:cNvSpPr>
            <a:spLocks noGrp="1"/>
          </p:cNvSpPr>
          <p:nvPr>
            <p:ph type="sldNum" sz="quarter" idx="12"/>
          </p:nvPr>
        </p:nvSpPr>
        <p:spPr/>
        <p:txBody>
          <a:bodyPr/>
          <a:lstStyle/>
          <a:p>
            <a:fld id="{B2418964-2A83-4133-8DBC-5197999B1B70}" type="slidenum">
              <a:rPr lang="en-GB" smtClean="0"/>
              <a:t>‹#›</a:t>
            </a:fld>
            <a:endParaRPr lang="en-GB"/>
          </a:p>
        </p:txBody>
      </p:sp>
    </p:spTree>
    <p:extLst>
      <p:ext uri="{BB962C8B-B14F-4D97-AF65-F5344CB8AC3E}">
        <p14:creationId xmlns:p14="http://schemas.microsoft.com/office/powerpoint/2010/main" val="539020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08353-C126-061B-E05D-1560190D04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73D9A0F-8959-D9FF-6C30-1E4C777CAE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609BCBF-9FFF-8CB2-CD66-7864102B09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C3C06D-66C3-DBFC-6E23-222A0B2FFF8F}"/>
              </a:ext>
            </a:extLst>
          </p:cNvPr>
          <p:cNvSpPr>
            <a:spLocks noGrp="1"/>
          </p:cNvSpPr>
          <p:nvPr>
            <p:ph type="dt" sz="half" idx="10"/>
          </p:nvPr>
        </p:nvSpPr>
        <p:spPr/>
        <p:txBody>
          <a:bodyPr/>
          <a:lstStyle/>
          <a:p>
            <a:fld id="{D319E75D-E495-4D6D-A130-EC5BE97C7ABD}" type="datetimeFigureOut">
              <a:rPr lang="en-GB" smtClean="0"/>
              <a:t>15/12/2025</a:t>
            </a:fld>
            <a:endParaRPr lang="en-GB"/>
          </a:p>
        </p:txBody>
      </p:sp>
      <p:sp>
        <p:nvSpPr>
          <p:cNvPr id="6" name="Footer Placeholder 5">
            <a:extLst>
              <a:ext uri="{FF2B5EF4-FFF2-40B4-BE49-F238E27FC236}">
                <a16:creationId xmlns:a16="http://schemas.microsoft.com/office/drawing/2014/main" id="{2C6283D9-1BA3-75BC-EE42-8AFFEE79400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04B9C43-7A6C-605D-86D1-87D893D3FC60}"/>
              </a:ext>
            </a:extLst>
          </p:cNvPr>
          <p:cNvSpPr>
            <a:spLocks noGrp="1"/>
          </p:cNvSpPr>
          <p:nvPr>
            <p:ph type="sldNum" sz="quarter" idx="12"/>
          </p:nvPr>
        </p:nvSpPr>
        <p:spPr/>
        <p:txBody>
          <a:bodyPr/>
          <a:lstStyle/>
          <a:p>
            <a:fld id="{B2418964-2A83-4133-8DBC-5197999B1B70}" type="slidenum">
              <a:rPr lang="en-GB" smtClean="0"/>
              <a:t>‹#›</a:t>
            </a:fld>
            <a:endParaRPr lang="en-GB"/>
          </a:p>
        </p:txBody>
      </p:sp>
    </p:spTree>
    <p:extLst>
      <p:ext uri="{BB962C8B-B14F-4D97-AF65-F5344CB8AC3E}">
        <p14:creationId xmlns:p14="http://schemas.microsoft.com/office/powerpoint/2010/main" val="3990199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55E8C-BD28-4B40-CD9B-8EC5ED59A4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1E988449-60CB-98A5-2319-67C926D5F0D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372995A-D87D-55EE-A6F7-D3347FA7CA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3B351C-5750-D268-C297-AE47FF5A13E0}"/>
              </a:ext>
            </a:extLst>
          </p:cNvPr>
          <p:cNvSpPr>
            <a:spLocks noGrp="1"/>
          </p:cNvSpPr>
          <p:nvPr>
            <p:ph type="dt" sz="half" idx="10"/>
          </p:nvPr>
        </p:nvSpPr>
        <p:spPr/>
        <p:txBody>
          <a:bodyPr/>
          <a:lstStyle/>
          <a:p>
            <a:fld id="{D319E75D-E495-4D6D-A130-EC5BE97C7ABD}" type="datetimeFigureOut">
              <a:rPr lang="en-GB" smtClean="0"/>
              <a:t>15/12/2025</a:t>
            </a:fld>
            <a:endParaRPr lang="en-GB"/>
          </a:p>
        </p:txBody>
      </p:sp>
      <p:sp>
        <p:nvSpPr>
          <p:cNvPr id="6" name="Footer Placeholder 5">
            <a:extLst>
              <a:ext uri="{FF2B5EF4-FFF2-40B4-BE49-F238E27FC236}">
                <a16:creationId xmlns:a16="http://schemas.microsoft.com/office/drawing/2014/main" id="{08C4F58D-AED8-92D4-4B0E-938E23A3C8E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1A8D50D-4BF7-96EF-BD1B-50D94981F046}"/>
              </a:ext>
            </a:extLst>
          </p:cNvPr>
          <p:cNvSpPr>
            <a:spLocks noGrp="1"/>
          </p:cNvSpPr>
          <p:nvPr>
            <p:ph type="sldNum" sz="quarter" idx="12"/>
          </p:nvPr>
        </p:nvSpPr>
        <p:spPr/>
        <p:txBody>
          <a:bodyPr/>
          <a:lstStyle/>
          <a:p>
            <a:fld id="{B2418964-2A83-4133-8DBC-5197999B1B70}" type="slidenum">
              <a:rPr lang="en-GB" smtClean="0"/>
              <a:t>‹#›</a:t>
            </a:fld>
            <a:endParaRPr lang="en-GB"/>
          </a:p>
        </p:txBody>
      </p:sp>
    </p:spTree>
    <p:extLst>
      <p:ext uri="{BB962C8B-B14F-4D97-AF65-F5344CB8AC3E}">
        <p14:creationId xmlns:p14="http://schemas.microsoft.com/office/powerpoint/2010/main" val="14485459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78670-FEA3-92F5-6D3B-013A7346D51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1C55B70-2FE1-844C-58B0-03176A1B295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926D41B-1377-E94F-B4D6-11DC8E6B3F6C}"/>
              </a:ext>
            </a:extLst>
          </p:cNvPr>
          <p:cNvSpPr>
            <a:spLocks noGrp="1"/>
          </p:cNvSpPr>
          <p:nvPr>
            <p:ph type="dt" sz="half" idx="10"/>
          </p:nvPr>
        </p:nvSpPr>
        <p:spPr/>
        <p:txBody>
          <a:bodyPr/>
          <a:lstStyle/>
          <a:p>
            <a:fld id="{D319E75D-E495-4D6D-A130-EC5BE97C7ABD}" type="datetimeFigureOut">
              <a:rPr lang="en-GB" smtClean="0"/>
              <a:t>15/12/2025</a:t>
            </a:fld>
            <a:endParaRPr lang="en-GB"/>
          </a:p>
        </p:txBody>
      </p:sp>
      <p:sp>
        <p:nvSpPr>
          <p:cNvPr id="5" name="Footer Placeholder 4">
            <a:extLst>
              <a:ext uri="{FF2B5EF4-FFF2-40B4-BE49-F238E27FC236}">
                <a16:creationId xmlns:a16="http://schemas.microsoft.com/office/drawing/2014/main" id="{08D363E5-A0CE-8852-3068-87E6B7BDB84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80F88DA-96AD-5990-93BE-03849EF2C23B}"/>
              </a:ext>
            </a:extLst>
          </p:cNvPr>
          <p:cNvSpPr>
            <a:spLocks noGrp="1"/>
          </p:cNvSpPr>
          <p:nvPr>
            <p:ph type="sldNum" sz="quarter" idx="12"/>
          </p:nvPr>
        </p:nvSpPr>
        <p:spPr/>
        <p:txBody>
          <a:bodyPr/>
          <a:lstStyle/>
          <a:p>
            <a:fld id="{B2418964-2A83-4133-8DBC-5197999B1B70}" type="slidenum">
              <a:rPr lang="en-GB" smtClean="0"/>
              <a:t>‹#›</a:t>
            </a:fld>
            <a:endParaRPr lang="en-GB"/>
          </a:p>
        </p:txBody>
      </p:sp>
    </p:spTree>
    <p:extLst>
      <p:ext uri="{BB962C8B-B14F-4D97-AF65-F5344CB8AC3E}">
        <p14:creationId xmlns:p14="http://schemas.microsoft.com/office/powerpoint/2010/main" val="1243546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A972DE-EF2F-5E57-F805-26B436C882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0AAB489-7060-BA92-3E24-A8745A1FD9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7BEF149-50B5-CA81-D1E1-7DE7E415E59E}"/>
              </a:ext>
            </a:extLst>
          </p:cNvPr>
          <p:cNvSpPr>
            <a:spLocks noGrp="1"/>
          </p:cNvSpPr>
          <p:nvPr>
            <p:ph type="dt" sz="half" idx="10"/>
          </p:nvPr>
        </p:nvSpPr>
        <p:spPr/>
        <p:txBody>
          <a:bodyPr/>
          <a:lstStyle/>
          <a:p>
            <a:fld id="{D319E75D-E495-4D6D-A130-EC5BE97C7ABD}" type="datetimeFigureOut">
              <a:rPr lang="en-GB" smtClean="0"/>
              <a:t>15/12/2025</a:t>
            </a:fld>
            <a:endParaRPr lang="en-GB"/>
          </a:p>
        </p:txBody>
      </p:sp>
      <p:sp>
        <p:nvSpPr>
          <p:cNvPr id="5" name="Footer Placeholder 4">
            <a:extLst>
              <a:ext uri="{FF2B5EF4-FFF2-40B4-BE49-F238E27FC236}">
                <a16:creationId xmlns:a16="http://schemas.microsoft.com/office/drawing/2014/main" id="{B6FAFBFC-BCC3-16D2-4FF0-B70A990401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3467988-29B5-456C-21DB-13C49B9142EB}"/>
              </a:ext>
            </a:extLst>
          </p:cNvPr>
          <p:cNvSpPr>
            <a:spLocks noGrp="1"/>
          </p:cNvSpPr>
          <p:nvPr>
            <p:ph type="sldNum" sz="quarter" idx="12"/>
          </p:nvPr>
        </p:nvSpPr>
        <p:spPr/>
        <p:txBody>
          <a:bodyPr/>
          <a:lstStyle/>
          <a:p>
            <a:fld id="{B2418964-2A83-4133-8DBC-5197999B1B70}" type="slidenum">
              <a:rPr lang="en-GB" smtClean="0"/>
              <a:t>‹#›</a:t>
            </a:fld>
            <a:endParaRPr lang="en-GB"/>
          </a:p>
        </p:txBody>
      </p:sp>
    </p:spTree>
    <p:extLst>
      <p:ext uri="{BB962C8B-B14F-4D97-AF65-F5344CB8AC3E}">
        <p14:creationId xmlns:p14="http://schemas.microsoft.com/office/powerpoint/2010/main" val="878764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5E79BB-8E2B-CB13-B0F8-4B0C0BB4FB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D032617-AD28-C359-D6CF-1EDD418792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85B428-830E-6E5E-4C8E-96409315C9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319E75D-E495-4D6D-A130-EC5BE97C7ABD}" type="datetimeFigureOut">
              <a:rPr lang="en-GB" smtClean="0"/>
              <a:t>15/12/2025</a:t>
            </a:fld>
            <a:endParaRPr lang="en-GB"/>
          </a:p>
        </p:txBody>
      </p:sp>
      <p:sp>
        <p:nvSpPr>
          <p:cNvPr id="5" name="Footer Placeholder 4">
            <a:extLst>
              <a:ext uri="{FF2B5EF4-FFF2-40B4-BE49-F238E27FC236}">
                <a16:creationId xmlns:a16="http://schemas.microsoft.com/office/drawing/2014/main" id="{89E8FE38-14D0-074F-095D-5B736CDE93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9DBDF90-6602-4E67-A7CA-7EC4CCBB96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418964-2A83-4133-8DBC-5197999B1B70}" type="slidenum">
              <a:rPr lang="en-GB" smtClean="0"/>
              <a:t>‹#›</a:t>
            </a:fld>
            <a:endParaRPr lang="en-GB"/>
          </a:p>
        </p:txBody>
      </p:sp>
    </p:spTree>
    <p:extLst>
      <p:ext uri="{BB962C8B-B14F-4D97-AF65-F5344CB8AC3E}">
        <p14:creationId xmlns:p14="http://schemas.microsoft.com/office/powerpoint/2010/main" val="25987716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4DA7634-ED6A-E6D3-E944-FFC427D3E6C8}"/>
              </a:ext>
            </a:extLst>
          </p:cNvPr>
          <p:cNvSpPr txBox="1"/>
          <p:nvPr/>
        </p:nvSpPr>
        <p:spPr>
          <a:xfrm>
            <a:off x="3235569" y="1396721"/>
            <a:ext cx="5747657" cy="369332"/>
          </a:xfrm>
          <a:prstGeom prst="rect">
            <a:avLst/>
          </a:prstGeom>
          <a:noFill/>
        </p:spPr>
        <p:txBody>
          <a:bodyPr wrap="square" rtlCol="0">
            <a:spAutoFit/>
          </a:bodyPr>
          <a:lstStyle/>
          <a:p>
            <a:pPr algn="ctr"/>
            <a:r>
              <a:rPr lang="en-US" dirty="0"/>
              <a:t>Grad project for Data science and AI diploma </a:t>
            </a:r>
            <a:endParaRPr lang="en-GB" dirty="0"/>
          </a:p>
        </p:txBody>
      </p:sp>
    </p:spTree>
    <p:extLst>
      <p:ext uri="{BB962C8B-B14F-4D97-AF65-F5344CB8AC3E}">
        <p14:creationId xmlns:p14="http://schemas.microsoft.com/office/powerpoint/2010/main" val="1837178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52C0D5-6CDD-A7FB-94E2-1FECB6D6612F}"/>
              </a:ext>
            </a:extLst>
          </p:cNvPr>
          <p:cNvSpPr txBox="1"/>
          <p:nvPr/>
        </p:nvSpPr>
        <p:spPr>
          <a:xfrm>
            <a:off x="1101213" y="678426"/>
            <a:ext cx="6961239" cy="1200329"/>
          </a:xfrm>
          <a:prstGeom prst="rect">
            <a:avLst/>
          </a:prstGeom>
          <a:noFill/>
        </p:spPr>
        <p:txBody>
          <a:bodyPr wrap="square" rtlCol="0">
            <a:spAutoFit/>
          </a:bodyPr>
          <a:lstStyle/>
          <a:p>
            <a:r>
              <a:rPr lang="en-US" dirty="0"/>
              <a:t>What our project is, what application are we going for (FER for what?)</a:t>
            </a:r>
          </a:p>
          <a:p>
            <a:endParaRPr lang="en-US" dirty="0"/>
          </a:p>
          <a:p>
            <a:r>
              <a:rPr lang="en-US" dirty="0"/>
              <a:t>Make a chatbot that can detect the emotion of the user interacting with it, for it to make more empathetic decisions </a:t>
            </a:r>
            <a:endParaRPr lang="en-GB" dirty="0"/>
          </a:p>
        </p:txBody>
      </p:sp>
    </p:spTree>
    <p:extLst>
      <p:ext uri="{BB962C8B-B14F-4D97-AF65-F5344CB8AC3E}">
        <p14:creationId xmlns:p14="http://schemas.microsoft.com/office/powerpoint/2010/main" val="2745921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B7F0F7D-F767-E48C-111B-43606EC1C294}"/>
              </a:ext>
            </a:extLst>
          </p:cNvPr>
          <p:cNvSpPr txBox="1"/>
          <p:nvPr/>
        </p:nvSpPr>
        <p:spPr>
          <a:xfrm>
            <a:off x="845574" y="344129"/>
            <a:ext cx="8554065" cy="6186309"/>
          </a:xfrm>
          <a:prstGeom prst="rect">
            <a:avLst/>
          </a:prstGeom>
          <a:noFill/>
        </p:spPr>
        <p:txBody>
          <a:bodyPr wrap="square" rtlCol="0">
            <a:spAutoFit/>
          </a:bodyPr>
          <a:lstStyle/>
          <a:p>
            <a:r>
              <a:rPr lang="en-US" dirty="0"/>
              <a:t>FER attempt #1: </a:t>
            </a:r>
          </a:p>
          <a:p>
            <a:r>
              <a:rPr lang="en-US" dirty="0"/>
              <a:t>Train accuracy: too long to train (was 85.83% at epoch 27), validation accuracy: too long to train (was 59.84% at epoch 27)</a:t>
            </a:r>
          </a:p>
          <a:p>
            <a:r>
              <a:rPr lang="en-US" dirty="0"/>
              <a:t>Data loading: stored locally and a stratified shuffle split is done so we could use 10% of the data for validation</a:t>
            </a:r>
          </a:p>
          <a:p>
            <a:r>
              <a:rPr lang="en-US" dirty="0"/>
              <a:t>Data preprocessing: </a:t>
            </a:r>
            <a:r>
              <a:rPr lang="en-US" dirty="0" err="1"/>
              <a:t>grayscaled</a:t>
            </a:r>
            <a:r>
              <a:rPr lang="en-US" dirty="0"/>
              <a:t>, resized image to 48x48 and made them into tensors</a:t>
            </a:r>
          </a:p>
          <a:p>
            <a:r>
              <a:rPr lang="en-US" dirty="0"/>
              <a:t>Data augmentation: random horizontal flip and random rotation of +/- 10 degrees for the training dataset and none for the validation </a:t>
            </a:r>
          </a:p>
          <a:p>
            <a:r>
              <a:rPr lang="en-US" dirty="0"/>
              <a:t>Detection model: </a:t>
            </a:r>
            <a:r>
              <a:rPr lang="en-US" dirty="0" err="1"/>
              <a:t>retinaface</a:t>
            </a:r>
            <a:r>
              <a:rPr lang="en-US" dirty="0"/>
              <a:t>, we convert the PIL image to OpenCV format (RGB 3 </a:t>
            </a:r>
            <a:r>
              <a:rPr lang="en-US" dirty="0" err="1"/>
              <a:t>chanel</a:t>
            </a:r>
            <a:r>
              <a:rPr lang="en-US" dirty="0"/>
              <a:t>) and the </a:t>
            </a:r>
            <a:r>
              <a:rPr lang="en-US" dirty="0" err="1"/>
              <a:t>retinaface</a:t>
            </a:r>
            <a:r>
              <a:rPr lang="en-US" dirty="0"/>
              <a:t> crops the face region and extracts a bounding box (x1, y1, x2, y2) then it returns the cropped face as a PIL image</a:t>
            </a:r>
          </a:p>
          <a:p>
            <a:r>
              <a:rPr lang="en-US" dirty="0"/>
              <a:t>Classification model: </a:t>
            </a:r>
            <a:r>
              <a:rPr lang="en-US" dirty="0" err="1"/>
              <a:t>EfficientNet</a:t>
            </a:r>
            <a:r>
              <a:rPr lang="en-US" dirty="0"/>
              <a:t> with preloaded weights that was trained on ImageNet. We resized the image to 300x300 for </a:t>
            </a:r>
            <a:r>
              <a:rPr lang="en-US" dirty="0" err="1"/>
              <a:t>EfficientNet</a:t>
            </a:r>
            <a:r>
              <a:rPr lang="en-US" dirty="0"/>
              <a:t> to accept it and then we convert it to a tensor</a:t>
            </a:r>
          </a:p>
          <a:p>
            <a:r>
              <a:rPr lang="en-US" dirty="0"/>
              <a:t>Training config: we used </a:t>
            </a:r>
            <a:r>
              <a:rPr lang="en-US" dirty="0" err="1"/>
              <a:t>CrossEntropyLoss</a:t>
            </a:r>
            <a:r>
              <a:rPr lang="en-US" dirty="0"/>
              <a:t> as our loss function and an </a:t>
            </a:r>
            <a:r>
              <a:rPr lang="en-US" dirty="0" err="1"/>
              <a:t>adam</a:t>
            </a:r>
            <a:r>
              <a:rPr lang="en-US" dirty="0"/>
              <a:t> optimizer with a 0.001 learning rate with a L2 </a:t>
            </a:r>
            <a:r>
              <a:rPr lang="en-US" dirty="0" err="1"/>
              <a:t>regularizer</a:t>
            </a:r>
            <a:r>
              <a:rPr lang="en-US" dirty="0"/>
              <a:t>, 50 epochs, also added a learning rate scheduler that reduces LR by 50% if loss doesn’t improve for 3 epochs, added a early stop in case model’s accuracy mitigates. </a:t>
            </a:r>
          </a:p>
          <a:p>
            <a:r>
              <a:rPr lang="en-US" dirty="0"/>
              <a:t>The training loop we used in this made it so that when the model is working on the training dataset, dropout and normalization are enabled however in the validation dataset they are disabled</a:t>
            </a:r>
          </a:p>
          <a:p>
            <a:endParaRPr lang="en-GB" dirty="0"/>
          </a:p>
        </p:txBody>
      </p:sp>
    </p:spTree>
    <p:extLst>
      <p:ext uri="{BB962C8B-B14F-4D97-AF65-F5344CB8AC3E}">
        <p14:creationId xmlns:p14="http://schemas.microsoft.com/office/powerpoint/2010/main" val="4115513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4684343-B4C8-1680-EB1F-BFD2EE8ED081}"/>
              </a:ext>
            </a:extLst>
          </p:cNvPr>
          <p:cNvSpPr txBox="1"/>
          <p:nvPr/>
        </p:nvSpPr>
        <p:spPr>
          <a:xfrm>
            <a:off x="2408903" y="648929"/>
            <a:ext cx="8337755" cy="2585323"/>
          </a:xfrm>
          <a:prstGeom prst="rect">
            <a:avLst/>
          </a:prstGeom>
          <a:noFill/>
        </p:spPr>
        <p:txBody>
          <a:bodyPr wrap="square" rtlCol="0">
            <a:spAutoFit/>
          </a:bodyPr>
          <a:lstStyle/>
          <a:p>
            <a:r>
              <a:rPr lang="en-US" dirty="0"/>
              <a:t>Problems with this attempt#1: </a:t>
            </a:r>
          </a:p>
          <a:p>
            <a:r>
              <a:rPr lang="en-US" dirty="0"/>
              <a:t>The face detection function we were using was being run on every epoch as opposed to being run just once in the beginning during preprocessing </a:t>
            </a:r>
          </a:p>
          <a:p>
            <a:r>
              <a:rPr lang="en-US" dirty="0"/>
              <a:t>Feature extraction was done on the fly for each epoch, which adds a lot of overhead. We should try to make it so that the extraction is only done once during preprocessing.</a:t>
            </a:r>
          </a:p>
          <a:p>
            <a:r>
              <a:rPr lang="en-US" dirty="0"/>
              <a:t>Stratified splitting was implemented twice during training by mistake </a:t>
            </a:r>
          </a:p>
          <a:p>
            <a:endParaRPr lang="en-US" dirty="0"/>
          </a:p>
          <a:p>
            <a:endParaRPr lang="en-GB" dirty="0"/>
          </a:p>
        </p:txBody>
      </p:sp>
    </p:spTree>
    <p:extLst>
      <p:ext uri="{BB962C8B-B14F-4D97-AF65-F5344CB8AC3E}">
        <p14:creationId xmlns:p14="http://schemas.microsoft.com/office/powerpoint/2010/main" val="1124944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9820D42-C743-45D9-ABA1-4B73FBA7A977}"/>
              </a:ext>
            </a:extLst>
          </p:cNvPr>
          <p:cNvSpPr txBox="1"/>
          <p:nvPr/>
        </p:nvSpPr>
        <p:spPr>
          <a:xfrm>
            <a:off x="914400" y="206478"/>
            <a:ext cx="5456903" cy="5355312"/>
          </a:xfrm>
          <a:prstGeom prst="rect">
            <a:avLst/>
          </a:prstGeom>
          <a:noFill/>
        </p:spPr>
        <p:txBody>
          <a:bodyPr wrap="square" rtlCol="0">
            <a:spAutoFit/>
          </a:bodyPr>
          <a:lstStyle/>
          <a:p>
            <a:r>
              <a:rPr lang="en-US" dirty="0"/>
              <a:t>FER attempt #2: </a:t>
            </a:r>
          </a:p>
          <a:p>
            <a:r>
              <a:rPr lang="en-US" dirty="0"/>
              <a:t>Train accuracy: 26.58%, validation accuracy: 25.39%</a:t>
            </a:r>
          </a:p>
          <a:p>
            <a:r>
              <a:rPr lang="en-US" dirty="0"/>
              <a:t>Data loading: label extraction is implemented and each image is mapped to the assigned class integer, a 80/20 stratified split is done to get validation dataset</a:t>
            </a:r>
          </a:p>
          <a:p>
            <a:r>
              <a:rPr lang="en-US" dirty="0"/>
              <a:t>Data preprocessing: </a:t>
            </a:r>
            <a:r>
              <a:rPr lang="en-US" dirty="0" err="1"/>
              <a:t>retinaface</a:t>
            </a:r>
            <a:r>
              <a:rPr lang="en-US" dirty="0"/>
              <a:t> is used to detect a face and extracts it into a 512-dimensional feature vector that is stacked in a </a:t>
            </a:r>
            <a:r>
              <a:rPr lang="en-US" dirty="0" err="1"/>
              <a:t>pytorch</a:t>
            </a:r>
            <a:r>
              <a:rPr lang="en-US" dirty="0"/>
              <a:t> tensor </a:t>
            </a:r>
          </a:p>
          <a:p>
            <a:r>
              <a:rPr lang="en-US" dirty="0"/>
              <a:t>Data augmentation: no augmentations were used as we were trying to test the model </a:t>
            </a:r>
          </a:p>
          <a:p>
            <a:r>
              <a:rPr lang="en-US" dirty="0"/>
              <a:t>Detection model: the detection happens during the preprocessing using the </a:t>
            </a:r>
            <a:r>
              <a:rPr lang="en-US" dirty="0" err="1"/>
              <a:t>retinaface</a:t>
            </a:r>
            <a:r>
              <a:rPr lang="en-US" dirty="0"/>
              <a:t> </a:t>
            </a:r>
          </a:p>
          <a:p>
            <a:r>
              <a:rPr lang="en-US" dirty="0"/>
              <a:t>Classification model: a custom MLP was made to do this, it takes the 512-dimensional vector</a:t>
            </a:r>
          </a:p>
          <a:p>
            <a:r>
              <a:rPr lang="en-US" dirty="0"/>
              <a:t>Training config: </a:t>
            </a:r>
            <a:r>
              <a:rPr lang="en-US" dirty="0" err="1"/>
              <a:t>crossentropy</a:t>
            </a:r>
            <a:r>
              <a:rPr lang="en-US" dirty="0"/>
              <a:t> was used for the loss function and </a:t>
            </a:r>
            <a:r>
              <a:rPr lang="en-US" dirty="0" err="1"/>
              <a:t>adam</a:t>
            </a:r>
            <a:r>
              <a:rPr lang="en-US" dirty="0"/>
              <a:t> optimizer with learning rate of 0.001 was used. The batch size used was 32 and the number of epochs was 15 </a:t>
            </a:r>
          </a:p>
          <a:p>
            <a:endParaRPr lang="en-GB" dirty="0"/>
          </a:p>
        </p:txBody>
      </p:sp>
    </p:spTree>
    <p:extLst>
      <p:ext uri="{BB962C8B-B14F-4D97-AF65-F5344CB8AC3E}">
        <p14:creationId xmlns:p14="http://schemas.microsoft.com/office/powerpoint/2010/main" val="310589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9C335A-C441-72A8-7B41-467D50045C6E}"/>
              </a:ext>
            </a:extLst>
          </p:cNvPr>
          <p:cNvSpPr txBox="1"/>
          <p:nvPr/>
        </p:nvSpPr>
        <p:spPr>
          <a:xfrm>
            <a:off x="1376516" y="1720840"/>
            <a:ext cx="9438968" cy="4247317"/>
          </a:xfrm>
          <a:prstGeom prst="rect">
            <a:avLst/>
          </a:prstGeom>
          <a:noFill/>
        </p:spPr>
        <p:txBody>
          <a:bodyPr wrap="square">
            <a:spAutoFit/>
          </a:bodyPr>
          <a:lstStyle/>
          <a:p>
            <a:endParaRPr lang="en-US" dirty="0"/>
          </a:p>
          <a:p>
            <a:r>
              <a:rPr lang="en-US" dirty="0"/>
              <a:t>Problems with attempt #2: </a:t>
            </a:r>
          </a:p>
          <a:p>
            <a:pPr marL="285750" indent="-285750">
              <a:buFont typeface="Arial" panose="020B0604020202020204" pitchFamily="34" charset="0"/>
              <a:buChar char="•"/>
            </a:pPr>
            <a:r>
              <a:rPr lang="en-US" dirty="0"/>
              <a:t>Overfitting is a problem here given the results even with strong normalization </a:t>
            </a:r>
          </a:p>
          <a:p>
            <a:pPr marL="285750" indent="-285750">
              <a:buFont typeface="Arial" panose="020B0604020202020204" pitchFamily="34" charset="0"/>
              <a:buChar char="•"/>
            </a:pPr>
            <a:r>
              <a:rPr lang="en-US" dirty="0"/>
              <a:t>The validation accuracy plateaus at 30% which is not what we are aiming for </a:t>
            </a:r>
          </a:p>
          <a:p>
            <a:pPr marL="285750" indent="-285750">
              <a:buFont typeface="Arial" panose="020B0604020202020204" pitchFamily="34" charset="0"/>
              <a:buChar char="•"/>
            </a:pPr>
            <a:r>
              <a:rPr lang="en-US" dirty="0"/>
              <a:t>The model overall was optimized mostly for efficiency rather than trying to get maximum accuracy so we will try tweaking the model to maximize the accuracy </a:t>
            </a:r>
          </a:p>
          <a:p>
            <a:pPr marL="285750" indent="-285750">
              <a:buFont typeface="Arial" panose="020B0604020202020204" pitchFamily="34" charset="0"/>
              <a:buChar char="•"/>
            </a:pPr>
            <a:r>
              <a:rPr lang="en-US" dirty="0" err="1"/>
              <a:t>Retinaface</a:t>
            </a:r>
            <a:r>
              <a:rPr lang="en-US" dirty="0"/>
              <a:t> which is primarily designed for identity verification is optimized to be invariant to changes in pose, lighting and most critically expression therefore the 512-d vectors they output carry very little expressive information </a:t>
            </a:r>
          </a:p>
          <a:p>
            <a:pPr marL="285750" indent="-285750">
              <a:buFont typeface="Arial" panose="020B0604020202020204" pitchFamily="34" charset="0"/>
              <a:buChar char="•"/>
            </a:pPr>
            <a:r>
              <a:rPr lang="en-US" dirty="0"/>
              <a:t>We handled failed face detections by inserting a zero 512-d vector which adds a lot of noise to the data (especially in the most frequent class which they will be probably associated with)</a:t>
            </a:r>
          </a:p>
          <a:p>
            <a:pPr marL="285750" indent="-285750">
              <a:buFont typeface="Arial" panose="020B0604020202020204" pitchFamily="34" charset="0"/>
              <a:buChar char="•"/>
            </a:pPr>
            <a:r>
              <a:rPr lang="en-US" dirty="0"/>
              <a:t>The feature extractors weights are fixed which gives it little chance to learn the emotional expressions in the images </a:t>
            </a:r>
          </a:p>
          <a:p>
            <a:pPr marL="285750" indent="-285750">
              <a:buFont typeface="Arial" panose="020B0604020202020204" pitchFamily="34" charset="0"/>
              <a:buChar char="•"/>
            </a:pPr>
            <a:r>
              <a:rPr lang="en-US" dirty="0"/>
              <a:t>Reducing the image to 512-d vector leads to information loss </a:t>
            </a:r>
          </a:p>
        </p:txBody>
      </p:sp>
    </p:spTree>
    <p:extLst>
      <p:ext uri="{BB962C8B-B14F-4D97-AF65-F5344CB8AC3E}">
        <p14:creationId xmlns:p14="http://schemas.microsoft.com/office/powerpoint/2010/main" val="266633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AA70F-5CB9-E967-5CAC-89839E1463B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C73CDA5-24F2-7373-B2B2-097898CA6068}"/>
              </a:ext>
            </a:extLst>
          </p:cNvPr>
          <p:cNvSpPr txBox="1"/>
          <p:nvPr/>
        </p:nvSpPr>
        <p:spPr>
          <a:xfrm>
            <a:off x="914400" y="0"/>
            <a:ext cx="10398642" cy="6463308"/>
          </a:xfrm>
          <a:prstGeom prst="rect">
            <a:avLst/>
          </a:prstGeom>
          <a:noFill/>
        </p:spPr>
        <p:txBody>
          <a:bodyPr wrap="square" rtlCol="0">
            <a:spAutoFit/>
          </a:bodyPr>
          <a:lstStyle/>
          <a:p>
            <a:r>
              <a:rPr lang="en-US" b="1" dirty="0"/>
              <a:t>Attempt #3 – Custom CNN Baseline (48×48 FER)</a:t>
            </a:r>
          </a:p>
          <a:p>
            <a:r>
              <a:rPr lang="en-US" dirty="0"/>
              <a:t>Train accuracy: 65.00%, validation accuracy: 60.40%</a:t>
            </a:r>
            <a:endParaRPr lang="en-US" b="1" dirty="0"/>
          </a:p>
          <a:p>
            <a:r>
              <a:rPr lang="en-US" b="1" dirty="0"/>
              <a:t>What we tried</a:t>
            </a:r>
            <a:endParaRPr lang="en-US" dirty="0"/>
          </a:p>
          <a:p>
            <a:r>
              <a:rPr lang="en-US" dirty="0"/>
              <a:t>Implemented a </a:t>
            </a:r>
            <a:r>
              <a:rPr lang="en-US" b="1" dirty="0"/>
              <a:t>custom CNN trained from scratch</a:t>
            </a:r>
            <a:r>
              <a:rPr lang="en-US" dirty="0"/>
              <a:t> on 48×48 grayscale FER images</a:t>
            </a:r>
          </a:p>
          <a:p>
            <a:r>
              <a:rPr lang="en-US" dirty="0"/>
              <a:t>Used </a:t>
            </a:r>
            <a:r>
              <a:rPr lang="en-US" b="1" dirty="0"/>
              <a:t>stratified train/validation split</a:t>
            </a:r>
            <a:r>
              <a:rPr lang="en-US" dirty="0"/>
              <a:t> to preserve class balance</a:t>
            </a:r>
          </a:p>
          <a:p>
            <a:r>
              <a:rPr lang="en-US" dirty="0"/>
              <a:t>Applied </a:t>
            </a:r>
            <a:r>
              <a:rPr lang="en-US" b="1" dirty="0"/>
              <a:t>light data augmentation</a:t>
            </a:r>
            <a:r>
              <a:rPr lang="en-US" dirty="0"/>
              <a:t> (horizontal flip + small rotations)</a:t>
            </a:r>
          </a:p>
          <a:p>
            <a:r>
              <a:rPr lang="en-US" dirty="0"/>
              <a:t>Trained using </a:t>
            </a:r>
            <a:r>
              <a:rPr lang="en-US" b="1" dirty="0" err="1"/>
              <a:t>AdamW</a:t>
            </a:r>
            <a:r>
              <a:rPr lang="en-US" dirty="0"/>
              <a:t>, Cross-Entropy loss, and learning-rate scheduling</a:t>
            </a:r>
          </a:p>
          <a:p>
            <a:r>
              <a:rPr lang="en-US" b="1" dirty="0"/>
              <a:t>Why</a:t>
            </a:r>
            <a:endParaRPr lang="en-US" dirty="0"/>
          </a:p>
          <a:p>
            <a:r>
              <a:rPr lang="en-US" dirty="0"/>
              <a:t>Establish a </a:t>
            </a:r>
            <a:r>
              <a:rPr lang="en-US" b="1" dirty="0"/>
              <a:t>strong, interpretable baseline</a:t>
            </a:r>
            <a:r>
              <a:rPr lang="en-US" dirty="0"/>
              <a:t> without relying on pretrained models</a:t>
            </a:r>
          </a:p>
          <a:p>
            <a:r>
              <a:rPr lang="en-US" dirty="0"/>
              <a:t>Evaluate how well a </a:t>
            </a:r>
            <a:r>
              <a:rPr lang="en-US" b="1" dirty="0"/>
              <a:t>pure CNN</a:t>
            </a:r>
            <a:r>
              <a:rPr lang="en-US" dirty="0"/>
              <a:t> can learn facial emotion patterns from low-resolution data</a:t>
            </a:r>
          </a:p>
          <a:p>
            <a:r>
              <a:rPr lang="en-US" dirty="0"/>
              <a:t>Create a reference point before moving to more complex architectures</a:t>
            </a:r>
          </a:p>
          <a:p>
            <a:r>
              <a:rPr lang="en-US" b="1" dirty="0"/>
              <a:t>Outcome</a:t>
            </a:r>
            <a:endParaRPr lang="en-US" dirty="0"/>
          </a:p>
          <a:p>
            <a:r>
              <a:rPr lang="en-US" dirty="0"/>
              <a:t>Validation accuracy steadily improved throughout training</a:t>
            </a:r>
          </a:p>
          <a:p>
            <a:r>
              <a:rPr lang="en-US" b="1" dirty="0"/>
              <a:t>Best validation accuracy ≈ 61.3% (epoch 16)</a:t>
            </a:r>
            <a:endParaRPr lang="en-US" dirty="0"/>
          </a:p>
          <a:p>
            <a:r>
              <a:rPr lang="en-US" dirty="0"/>
              <a:t>Training accuracy reached ~66% before early stopping</a:t>
            </a:r>
          </a:p>
          <a:p>
            <a:r>
              <a:rPr lang="en-US" dirty="0"/>
              <a:t>Learning curves showed </a:t>
            </a:r>
            <a:r>
              <a:rPr lang="en-US" b="1" dirty="0"/>
              <a:t>stable convergence with mild overfitting</a:t>
            </a:r>
            <a:endParaRPr lang="en-US" dirty="0"/>
          </a:p>
          <a:p>
            <a:r>
              <a:rPr lang="en-US" b="1" dirty="0"/>
              <a:t>What we learned</a:t>
            </a:r>
            <a:endParaRPr lang="en-US" dirty="0"/>
          </a:p>
          <a:p>
            <a:r>
              <a:rPr lang="en-US" dirty="0"/>
              <a:t>A shallow CNN can capture core emotional features even at 48×48 resolution</a:t>
            </a:r>
          </a:p>
          <a:p>
            <a:r>
              <a:rPr lang="en-US" dirty="0"/>
              <a:t>Validation performance plateaus early, suggesting </a:t>
            </a:r>
            <a:r>
              <a:rPr lang="en-US" b="1" dirty="0"/>
              <a:t>information limits in low-resolution grayscale inputs</a:t>
            </a:r>
            <a:endParaRPr lang="en-US" dirty="0"/>
          </a:p>
          <a:p>
            <a:r>
              <a:rPr lang="en-US" dirty="0" err="1"/>
              <a:t>Regularisation</a:t>
            </a:r>
            <a:r>
              <a:rPr lang="en-US" dirty="0"/>
              <a:t> (dropout + early stopping) was essential to prevent overfitting</a:t>
            </a:r>
          </a:p>
          <a:p>
            <a:br>
              <a:rPr lang="en-US" dirty="0"/>
            </a:br>
            <a:endParaRPr lang="en-US" dirty="0"/>
          </a:p>
        </p:txBody>
      </p:sp>
    </p:spTree>
    <p:extLst>
      <p:ext uri="{BB962C8B-B14F-4D97-AF65-F5344CB8AC3E}">
        <p14:creationId xmlns:p14="http://schemas.microsoft.com/office/powerpoint/2010/main" val="39393078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8E62D3-1F4B-5E09-7D14-334D0F6C461F}"/>
              </a:ext>
            </a:extLst>
          </p:cNvPr>
          <p:cNvSpPr>
            <a:spLocks noGrp="1"/>
          </p:cNvSpPr>
          <p:nvPr>
            <p:ph idx="1"/>
          </p:nvPr>
        </p:nvSpPr>
        <p:spPr>
          <a:xfrm>
            <a:off x="838200" y="478465"/>
            <a:ext cx="10515600" cy="5698498"/>
          </a:xfrm>
        </p:spPr>
        <p:txBody>
          <a:bodyPr>
            <a:normAutofit/>
          </a:bodyPr>
          <a:lstStyle/>
          <a:p>
            <a:pPr marL="0" indent="0">
              <a:buNone/>
            </a:pPr>
            <a:endParaRPr lang="en-US" b="1" dirty="0"/>
          </a:p>
          <a:p>
            <a:r>
              <a:rPr lang="en-US" b="1" dirty="0"/>
              <a:t>Attempt 3 – Training Improvements</a:t>
            </a:r>
          </a:p>
          <a:p>
            <a:pPr lvl="1"/>
            <a:r>
              <a:rPr lang="en-US" b="1" dirty="0"/>
              <a:t>What we changed</a:t>
            </a:r>
            <a:endParaRPr lang="en-US" dirty="0"/>
          </a:p>
          <a:p>
            <a:pPr lvl="2"/>
            <a:r>
              <a:rPr lang="en-US" dirty="0"/>
              <a:t>Added </a:t>
            </a:r>
            <a:r>
              <a:rPr lang="en-US" b="1" dirty="0"/>
              <a:t>model checkpointing</a:t>
            </a:r>
            <a:r>
              <a:rPr lang="en-US" dirty="0"/>
              <a:t> (save best validation model)</a:t>
            </a:r>
          </a:p>
          <a:p>
            <a:pPr lvl="2"/>
            <a:r>
              <a:rPr lang="en-US" dirty="0"/>
              <a:t>Introduced </a:t>
            </a:r>
            <a:r>
              <a:rPr lang="en-US" b="1" dirty="0"/>
              <a:t>early stopping</a:t>
            </a:r>
            <a:r>
              <a:rPr lang="en-US" dirty="0"/>
              <a:t> based on validation loss</a:t>
            </a:r>
          </a:p>
          <a:p>
            <a:pPr lvl="2"/>
            <a:r>
              <a:rPr lang="en-US" dirty="0"/>
              <a:t>Experimented with </a:t>
            </a:r>
            <a:r>
              <a:rPr lang="en-US" b="1" dirty="0"/>
              <a:t>class-weighted loss</a:t>
            </a:r>
            <a:r>
              <a:rPr lang="en-US" dirty="0"/>
              <a:t> and </a:t>
            </a:r>
            <a:r>
              <a:rPr lang="en-US" b="1" dirty="0"/>
              <a:t>gradient clipping</a:t>
            </a:r>
            <a:endParaRPr lang="en-US" dirty="0"/>
          </a:p>
          <a:p>
            <a:pPr lvl="1"/>
            <a:r>
              <a:rPr lang="en-US" b="1" dirty="0"/>
              <a:t>Impact</a:t>
            </a:r>
            <a:endParaRPr lang="en-US" dirty="0"/>
          </a:p>
          <a:p>
            <a:pPr lvl="2"/>
            <a:r>
              <a:rPr lang="en-US" dirty="0"/>
              <a:t>More stable training and reproducible results</a:t>
            </a:r>
          </a:p>
          <a:p>
            <a:pPr lvl="2"/>
            <a:r>
              <a:rPr lang="en-US" dirty="0"/>
              <a:t>Prevented overtraining past the optimal epoch</a:t>
            </a:r>
          </a:p>
          <a:p>
            <a:pPr lvl="2"/>
            <a:r>
              <a:rPr lang="en-US" dirty="0"/>
              <a:t>Slight but consistent improvement over the initial baseline</a:t>
            </a:r>
          </a:p>
          <a:p>
            <a:pPr lvl="1"/>
            <a:r>
              <a:rPr lang="en-US" b="1" dirty="0"/>
              <a:t>Next steps</a:t>
            </a:r>
            <a:endParaRPr lang="en-US" dirty="0"/>
          </a:p>
          <a:p>
            <a:pPr lvl="2"/>
            <a:r>
              <a:rPr lang="en-US" dirty="0"/>
              <a:t>Evaluate per-class performance (confusion matrix, F1-scores)</a:t>
            </a:r>
          </a:p>
          <a:p>
            <a:pPr lvl="2"/>
            <a:r>
              <a:rPr lang="en-US" dirty="0"/>
              <a:t>Introduce stronger </a:t>
            </a:r>
            <a:r>
              <a:rPr lang="en-US" dirty="0" err="1"/>
              <a:t>regularisation</a:t>
            </a:r>
            <a:r>
              <a:rPr lang="en-US" dirty="0"/>
              <a:t> (</a:t>
            </a:r>
            <a:r>
              <a:rPr lang="en-US" dirty="0" err="1"/>
              <a:t>MixUp</a:t>
            </a:r>
            <a:r>
              <a:rPr lang="en-US" dirty="0"/>
              <a:t> / label smoothing)</a:t>
            </a:r>
          </a:p>
          <a:p>
            <a:pPr lvl="2"/>
            <a:r>
              <a:rPr lang="en-US" dirty="0"/>
              <a:t>Move toward higher-resolution or pretrained feature extractors</a:t>
            </a:r>
          </a:p>
          <a:p>
            <a:endParaRPr lang="en-US" dirty="0"/>
          </a:p>
        </p:txBody>
      </p:sp>
    </p:spTree>
    <p:extLst>
      <p:ext uri="{BB962C8B-B14F-4D97-AF65-F5344CB8AC3E}">
        <p14:creationId xmlns:p14="http://schemas.microsoft.com/office/powerpoint/2010/main" val="5549245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D34709-0C58-6F4E-1D93-87FED1BFC22E}"/>
              </a:ext>
            </a:extLst>
          </p:cNvPr>
          <p:cNvSpPr txBox="1"/>
          <p:nvPr/>
        </p:nvSpPr>
        <p:spPr>
          <a:xfrm>
            <a:off x="914400" y="206478"/>
            <a:ext cx="11120284" cy="6740307"/>
          </a:xfrm>
          <a:prstGeom prst="rect">
            <a:avLst/>
          </a:prstGeom>
          <a:noFill/>
        </p:spPr>
        <p:txBody>
          <a:bodyPr wrap="square" rtlCol="0">
            <a:spAutoFit/>
          </a:bodyPr>
          <a:lstStyle/>
          <a:p>
            <a:r>
              <a:rPr lang="en-US" dirty="0"/>
              <a:t>FER attempt #4: </a:t>
            </a:r>
          </a:p>
          <a:p>
            <a:r>
              <a:rPr lang="en-US" dirty="0"/>
              <a:t>Train accuracy: 92.90%, validation accuracy: 67.76%</a:t>
            </a:r>
          </a:p>
          <a:p>
            <a:r>
              <a:rPr lang="en-US" dirty="0"/>
              <a:t>Data loading: for this model we decided to optimize this step by caching the images into the RAM during initialization instead of reading the images from the disk every batch</a:t>
            </a:r>
          </a:p>
          <a:p>
            <a:r>
              <a:rPr lang="en-US" dirty="0"/>
              <a:t>Data preprocessing: images are resized to 224x224 and converted to </a:t>
            </a:r>
            <a:r>
              <a:rPr lang="en-US" dirty="0" err="1"/>
              <a:t>pytorch</a:t>
            </a:r>
            <a:r>
              <a:rPr lang="en-US" dirty="0"/>
              <a:t> tensors. The stratified split is 85/15 and the validation images are pre-normalized while the training data is normalized and augmented on the fly </a:t>
            </a:r>
          </a:p>
          <a:p>
            <a:r>
              <a:rPr lang="en-US" dirty="0"/>
              <a:t>Data augmentation: the training dataset has random horizontal flip applied, and random erasing as well </a:t>
            </a:r>
          </a:p>
          <a:p>
            <a:r>
              <a:rPr lang="en-US" dirty="0"/>
              <a:t>Detection model: resnet18, with pretrained weights that update during the training process, this allows the CNN to adapt specifically to the facial features </a:t>
            </a:r>
          </a:p>
          <a:p>
            <a:r>
              <a:rPr lang="en-US" dirty="0"/>
              <a:t>Classification model: a custom MLP was defined to replace the </a:t>
            </a:r>
            <a:r>
              <a:rPr lang="en-US" dirty="0" err="1"/>
              <a:t>resnet’s</a:t>
            </a:r>
            <a:r>
              <a:rPr lang="en-US" dirty="0"/>
              <a:t> fully connected layer to make the classification process more robust. The MLP is as follows: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Training config: same config as the last model but with a batch size of 256 which was made possible by the caching</a:t>
            </a:r>
            <a:endParaRPr lang="en-GB" dirty="0"/>
          </a:p>
        </p:txBody>
      </p:sp>
      <p:sp>
        <p:nvSpPr>
          <p:cNvPr id="5" name="Rectangle 1">
            <a:extLst>
              <a:ext uri="{FF2B5EF4-FFF2-40B4-BE49-F238E27FC236}">
                <a16:creationId xmlns:a16="http://schemas.microsoft.com/office/drawing/2014/main" id="{5F0742E9-E593-BF4A-210C-EAC08E95A1A8}"/>
              </a:ext>
            </a:extLst>
          </p:cNvPr>
          <p:cNvSpPr>
            <a:spLocks noChangeArrowheads="1"/>
          </p:cNvSpPr>
          <p:nvPr/>
        </p:nvSpPr>
        <p:spPr bwMode="auto">
          <a:xfrm>
            <a:off x="914400" y="3520734"/>
            <a:ext cx="3775587"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Dropout:</a:t>
            </a:r>
            <a:r>
              <a:rPr kumimoji="0" lang="en-US" altLang="en-US" sz="1800" b="0" i="0" u="none" strike="noStrike" cap="none" normalizeH="0" baseline="0" dirty="0">
                <a:ln>
                  <a:noFill/>
                </a:ln>
                <a:solidFill>
                  <a:schemeClr val="tx1"/>
                </a:solidFill>
                <a:effectLst/>
                <a:latin typeface="Google Sans Text"/>
              </a:rPr>
              <a:t> (p=0.25)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Linear:</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in_features</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a:ln>
                  <a:noFill/>
                </a:ln>
                <a:solidFill>
                  <a:schemeClr val="tx1"/>
                </a:solidFill>
                <a:effectLst/>
                <a:latin typeface="Google Sans Text"/>
                <a:sym typeface="Wingdings" panose="05000000000000000000" pitchFamily="2" charset="2"/>
              </a:rPr>
              <a:t></a:t>
            </a:r>
            <a:r>
              <a:rPr kumimoji="0" lang="en-US" altLang="en-US" sz="1800" b="0" i="0" u="none" strike="noStrike" cap="none" normalizeH="0" baseline="0" dirty="0">
                <a:ln>
                  <a:noFill/>
                </a:ln>
                <a:solidFill>
                  <a:schemeClr val="tx1"/>
                </a:solidFill>
                <a:effectLst/>
                <a:latin typeface="Google Sans Text"/>
              </a:rPr>
              <a:t>512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Batch Normalization (1D)</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Google Sans Text"/>
              </a:rPr>
              <a:t>ReLU</a:t>
            </a:r>
            <a:r>
              <a:rPr kumimoji="0" lang="en-US" altLang="en-US" sz="1800" b="1" i="0" u="none" strike="noStrike" cap="none" normalizeH="0" baseline="0" dirty="0">
                <a:ln>
                  <a:noFill/>
                </a:ln>
                <a:solidFill>
                  <a:schemeClr val="tx1"/>
                </a:solidFill>
                <a:effectLst/>
                <a:latin typeface="Google Sans Text"/>
              </a:rPr>
              <a:t> Activation</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Dropout:</a:t>
            </a:r>
            <a:r>
              <a:rPr kumimoji="0" lang="en-US" altLang="en-US" sz="1800" b="0" i="0" u="none" strike="noStrike" cap="none" normalizeH="0" baseline="0" dirty="0">
                <a:ln>
                  <a:noFill/>
                </a:ln>
                <a:solidFill>
                  <a:schemeClr val="tx1"/>
                </a:solidFill>
                <a:effectLst/>
                <a:latin typeface="Google Sans Text"/>
              </a:rPr>
              <a:t> (p=0.5)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Linear:</a:t>
            </a:r>
            <a:r>
              <a:rPr kumimoji="0" lang="en-US" altLang="en-US" sz="1800" b="0" i="0" u="none" strike="noStrike" cap="none" normalizeH="0" baseline="0" dirty="0">
                <a:ln>
                  <a:noFill/>
                </a:ln>
                <a:solidFill>
                  <a:schemeClr val="tx1"/>
                </a:solidFill>
                <a:effectLst/>
                <a:latin typeface="Google Sans Text"/>
              </a:rPr>
              <a:t> 512 </a:t>
            </a:r>
            <a:r>
              <a:rPr kumimoji="0" lang="en-US" altLang="en-US" sz="1800" b="0" i="0" u="none" strike="noStrike" cap="none" normalizeH="0" baseline="0" dirty="0">
                <a:ln>
                  <a:noFill/>
                </a:ln>
                <a:solidFill>
                  <a:schemeClr val="tx1"/>
                </a:solidFill>
                <a:effectLst/>
                <a:latin typeface="Google Sans Text"/>
                <a:sym typeface="Wingdings" panose="05000000000000000000" pitchFamily="2" charset="2"/>
              </a:rPr>
              <a:t></a:t>
            </a:r>
            <a:r>
              <a:rPr kumimoji="0" lang="en-US" altLang="en-US" sz="1800" b="0" i="0" u="none" strike="noStrike" cap="none" normalizeH="0" baseline="0" dirty="0">
                <a:ln>
                  <a:noFill/>
                </a:ln>
                <a:solidFill>
                  <a:schemeClr val="tx1"/>
                </a:solidFill>
                <a:effectLst/>
                <a:latin typeface="Google Sans Text"/>
              </a:rPr>
              <a:t> 256</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Batch Normalization (1D)</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Google Sans Text"/>
              </a:rPr>
              <a:t>ReLU</a:t>
            </a:r>
            <a:r>
              <a:rPr kumimoji="0" lang="en-US" altLang="en-US" sz="1800" b="1" i="0" u="none" strike="noStrike" cap="none" normalizeH="0" baseline="0" dirty="0">
                <a:ln>
                  <a:noFill/>
                </a:ln>
                <a:solidFill>
                  <a:schemeClr val="tx1"/>
                </a:solidFill>
                <a:effectLst/>
                <a:latin typeface="Google Sans Text"/>
              </a:rPr>
              <a:t> Activation</a:t>
            </a: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Dropout:</a:t>
            </a:r>
            <a:r>
              <a:rPr kumimoji="0" lang="en-US" altLang="en-US" sz="1800" b="0" i="0" u="none" strike="noStrike" cap="none" normalizeH="0" baseline="0" dirty="0">
                <a:ln>
                  <a:noFill/>
                </a:ln>
                <a:solidFill>
                  <a:schemeClr val="tx1"/>
                </a:solidFill>
                <a:effectLst/>
                <a:latin typeface="Google Sans Text"/>
              </a:rPr>
              <a:t> (p=0.5)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Output Linear:</a:t>
            </a:r>
            <a:r>
              <a:rPr kumimoji="0" lang="en-US" altLang="en-US" sz="1800" b="0" i="0" u="none" strike="noStrike" cap="none" normalizeH="0" baseline="0" dirty="0">
                <a:ln>
                  <a:noFill/>
                </a:ln>
                <a:solidFill>
                  <a:schemeClr val="tx1"/>
                </a:solidFill>
                <a:effectLst/>
                <a:latin typeface="Google Sans Text"/>
              </a:rPr>
              <a:t> 256 </a:t>
            </a:r>
            <a:r>
              <a:rPr kumimoji="0" lang="en-US" altLang="en-US" sz="1800" b="0" i="0" u="none" strike="noStrike" cap="none" normalizeH="0" baseline="0" dirty="0">
                <a:ln>
                  <a:noFill/>
                </a:ln>
                <a:solidFill>
                  <a:schemeClr val="tx1"/>
                </a:solidFill>
                <a:effectLst/>
                <a:latin typeface="Google Sans Text"/>
                <a:sym typeface="Wingdings" panose="05000000000000000000" pitchFamily="2" charset="2"/>
              </a:rPr>
              <a:t></a:t>
            </a:r>
            <a:r>
              <a:rPr kumimoji="0" lang="en-US" altLang="en-US" sz="1800" b="0" i="0" u="none" strike="noStrike" cap="none" normalizeH="0" baseline="0" dirty="0">
                <a:ln>
                  <a:noFill/>
                </a:ln>
                <a:solidFill>
                  <a:schemeClr val="tx1"/>
                </a:solidFill>
                <a:effectLst/>
                <a:latin typeface="Google Sans Text"/>
              </a:rPr>
              <a:t> 7 (Classes)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29577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8B832C-01DD-A20D-5286-A1D529D122F6}"/>
              </a:ext>
            </a:extLst>
          </p:cNvPr>
          <p:cNvSpPr txBox="1"/>
          <p:nvPr/>
        </p:nvSpPr>
        <p:spPr>
          <a:xfrm>
            <a:off x="993058" y="737419"/>
            <a:ext cx="9802761" cy="2585323"/>
          </a:xfrm>
          <a:prstGeom prst="rect">
            <a:avLst/>
          </a:prstGeom>
          <a:noFill/>
        </p:spPr>
        <p:txBody>
          <a:bodyPr wrap="square" rtlCol="0">
            <a:spAutoFit/>
          </a:bodyPr>
          <a:lstStyle/>
          <a:p>
            <a:r>
              <a:rPr lang="en-US" dirty="0"/>
              <a:t>Problems with attempt #4:</a:t>
            </a:r>
          </a:p>
          <a:p>
            <a:pPr marL="285750" indent="-285750">
              <a:buFont typeface="Arial" panose="020B0604020202020204" pitchFamily="34" charset="0"/>
              <a:buChar char="•"/>
            </a:pPr>
            <a:r>
              <a:rPr lang="en-US" dirty="0"/>
              <a:t>no face alignment: unlike the </a:t>
            </a:r>
            <a:r>
              <a:rPr lang="en-US" dirty="0" err="1"/>
              <a:t>retinaface</a:t>
            </a:r>
            <a:r>
              <a:rPr lang="en-US" dirty="0"/>
              <a:t> approach, this model assumes that the input image is already a cropped face which would mean it would work less efficiently on full body images or unaligned faces.</a:t>
            </a:r>
          </a:p>
          <a:p>
            <a:pPr marL="285750" indent="-285750">
              <a:buFont typeface="Arial" panose="020B0604020202020204" pitchFamily="34" charset="0"/>
              <a:buChar char="•"/>
            </a:pPr>
            <a:r>
              <a:rPr lang="en-US" dirty="0"/>
              <a:t>High overfitting which means that we should increase the augmentations on the training dataset as well as maybe remove the normalization from the validation dataset </a:t>
            </a:r>
          </a:p>
          <a:p>
            <a:pPr marL="285750" indent="-285750">
              <a:buFont typeface="Arial" panose="020B0604020202020204" pitchFamily="34" charset="0"/>
              <a:buChar char="•"/>
            </a:pPr>
            <a:r>
              <a:rPr lang="en-US" dirty="0"/>
              <a:t>Validation accuracy ceiling of 68% possibly due to the pre-trained weights or the high learning rate which could cause too big of a disruption in the models already pre-trained weights causing it to lose too much general-purpose image features  </a:t>
            </a:r>
          </a:p>
        </p:txBody>
      </p:sp>
    </p:spTree>
    <p:extLst>
      <p:ext uri="{BB962C8B-B14F-4D97-AF65-F5344CB8AC3E}">
        <p14:creationId xmlns:p14="http://schemas.microsoft.com/office/powerpoint/2010/main" val="3151463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0CF7278-8BED-EA85-D42D-F78174DD941F}"/>
              </a:ext>
            </a:extLst>
          </p:cNvPr>
          <p:cNvSpPr txBox="1"/>
          <p:nvPr/>
        </p:nvSpPr>
        <p:spPr>
          <a:xfrm>
            <a:off x="0" y="-9832"/>
            <a:ext cx="12275574" cy="7294305"/>
          </a:xfrm>
          <a:prstGeom prst="rect">
            <a:avLst/>
          </a:prstGeom>
          <a:noFill/>
        </p:spPr>
        <p:txBody>
          <a:bodyPr wrap="square" rtlCol="0">
            <a:spAutoFit/>
          </a:bodyPr>
          <a:lstStyle/>
          <a:p>
            <a:r>
              <a:rPr lang="en-US" dirty="0"/>
              <a:t>FER attempt #5: </a:t>
            </a:r>
          </a:p>
          <a:p>
            <a:r>
              <a:rPr lang="en-US" dirty="0"/>
              <a:t>Train accuracy: 59.18% at epoch 27/50, validation accuracy: 63.87% at epoch 27/50</a:t>
            </a:r>
          </a:p>
          <a:p>
            <a:r>
              <a:rPr lang="en-US" dirty="0"/>
              <a:t>Data loading: the images are all pre-cached on the devices RAM and a flexible data loader is then used to load the train and validation data separately, where the train data is resized to 224x224 and stored as tensors, and the validation data is also resized and then normalized and stored as is, a stratified split of 85/15 is done to get the validation dataset in the first place. </a:t>
            </a:r>
          </a:p>
          <a:p>
            <a:r>
              <a:rPr lang="en-US" dirty="0"/>
              <a:t>Data preprocessing: the data loader for the train data loads the data in batches of 256 with shuffling turned on while for the validation dataset is loaded with the same batch size with shuffling disabled</a:t>
            </a:r>
          </a:p>
          <a:p>
            <a:r>
              <a:rPr lang="en-US" dirty="0"/>
              <a:t>Data augmentation: 7 augmentations are done on the fly, a random horizontal flip, random rotation of +/- 15, a color jitter, random affine, </a:t>
            </a:r>
            <a:r>
              <a:rPr lang="en-US" dirty="0" err="1"/>
              <a:t>imagenet</a:t>
            </a:r>
            <a:r>
              <a:rPr lang="en-US" dirty="0"/>
              <a:t> normalization, random erasing with a 20% chance on 2-15% of the images area, and a </a:t>
            </a:r>
            <a:r>
              <a:rPr lang="en-US" dirty="0" err="1"/>
              <a:t>mixup</a:t>
            </a:r>
            <a:endParaRPr lang="en-US" dirty="0"/>
          </a:p>
          <a:p>
            <a:r>
              <a:rPr lang="en-US" dirty="0"/>
              <a:t>Detection model: a pre-trained resnet-34 was used with trainable weights </a:t>
            </a:r>
          </a:p>
          <a:p>
            <a:r>
              <a:rPr lang="en-US" dirty="0"/>
              <a:t>Classification model: a custom MLP was made to do this</a:t>
            </a:r>
          </a:p>
          <a:p>
            <a:r>
              <a:rPr lang="en-US" dirty="0"/>
              <a:t>	Backbone: ResNet-34 conv layers (frozen initially)</a:t>
            </a:r>
          </a:p>
          <a:p>
            <a:r>
              <a:rPr lang="en-US" dirty="0"/>
              <a:t>	    ↓</a:t>
            </a:r>
          </a:p>
          <a:p>
            <a:r>
              <a:rPr lang="en-US" dirty="0"/>
              <a:t>	[512-dim features]</a:t>
            </a:r>
          </a:p>
          <a:p>
            <a:r>
              <a:rPr lang="en-US" dirty="0"/>
              <a:t>	    ↓</a:t>
            </a:r>
          </a:p>
          <a:p>
            <a:r>
              <a:rPr lang="en-US" dirty="0"/>
              <a:t>	Linear(512→512) + </a:t>
            </a:r>
            <a:r>
              <a:rPr lang="en-US" dirty="0" err="1"/>
              <a:t>BatchNorm</a:t>
            </a:r>
            <a:r>
              <a:rPr lang="en-US" dirty="0"/>
              <a:t> + </a:t>
            </a:r>
            <a:r>
              <a:rPr lang="en-US" dirty="0" err="1"/>
              <a:t>ReLU</a:t>
            </a:r>
            <a:r>
              <a:rPr lang="en-US" dirty="0"/>
              <a:t> + Dropout(0.6)</a:t>
            </a:r>
          </a:p>
          <a:p>
            <a:r>
              <a:rPr lang="en-US" dirty="0"/>
              <a:t>	    ↓</a:t>
            </a:r>
          </a:p>
          <a:p>
            <a:r>
              <a:rPr lang="en-US" dirty="0"/>
              <a:t>	Linear(512→256) + </a:t>
            </a:r>
            <a:r>
              <a:rPr lang="en-US" dirty="0" err="1"/>
              <a:t>BatchNorm</a:t>
            </a:r>
            <a:r>
              <a:rPr lang="en-US" dirty="0"/>
              <a:t> + </a:t>
            </a:r>
            <a:r>
              <a:rPr lang="en-US" dirty="0" err="1"/>
              <a:t>ReLU</a:t>
            </a:r>
            <a:r>
              <a:rPr lang="en-US" dirty="0"/>
              <a:t> + Dropout(0.6)</a:t>
            </a:r>
          </a:p>
          <a:p>
            <a:r>
              <a:rPr lang="en-US" dirty="0"/>
              <a:t>	    ↓</a:t>
            </a:r>
          </a:p>
          <a:p>
            <a:r>
              <a:rPr lang="en-US" dirty="0"/>
              <a:t>	Linear(256→7) [emotion logits]</a:t>
            </a:r>
          </a:p>
          <a:p>
            <a:r>
              <a:rPr lang="en-US" dirty="0"/>
              <a:t>Training config: decided to change loss to focal loss to handle class imbalance in the dataset, then also an </a:t>
            </a:r>
            <a:r>
              <a:rPr lang="en-US" dirty="0" err="1"/>
              <a:t>adamW</a:t>
            </a:r>
            <a:r>
              <a:rPr lang="en-US" dirty="0"/>
              <a:t> optimizer with an adaptive learning rate and L2 regularization. The training is done in phases, where first the FC head is trained alone for 5 epochs, then unfreeze the last layer of the backbone for 10 epochs, and finally the whole model is trained for the last 35 epochs </a:t>
            </a:r>
          </a:p>
          <a:p>
            <a:endParaRPr lang="en-GB" dirty="0"/>
          </a:p>
        </p:txBody>
      </p:sp>
    </p:spTree>
    <p:extLst>
      <p:ext uri="{BB962C8B-B14F-4D97-AF65-F5344CB8AC3E}">
        <p14:creationId xmlns:p14="http://schemas.microsoft.com/office/powerpoint/2010/main" val="3300346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829627A-6975-B015-430C-0A6169F56193}"/>
              </a:ext>
            </a:extLst>
          </p:cNvPr>
          <p:cNvSpPr txBox="1"/>
          <p:nvPr/>
        </p:nvSpPr>
        <p:spPr>
          <a:xfrm>
            <a:off x="943897" y="530942"/>
            <a:ext cx="9871587" cy="1754326"/>
          </a:xfrm>
          <a:prstGeom prst="rect">
            <a:avLst/>
          </a:prstGeom>
          <a:noFill/>
        </p:spPr>
        <p:txBody>
          <a:bodyPr wrap="square" rtlCol="0">
            <a:spAutoFit/>
          </a:bodyPr>
          <a:lstStyle/>
          <a:p>
            <a:r>
              <a:rPr lang="en-US" dirty="0"/>
              <a:t>FER attempt #5 continuation:</a:t>
            </a:r>
          </a:p>
          <a:p>
            <a:r>
              <a:rPr lang="en-US" dirty="0"/>
              <a:t>Test time augmentation is also used in the 3</a:t>
            </a:r>
            <a:r>
              <a:rPr lang="en-US" baseline="30000" dirty="0"/>
              <a:t>rd</a:t>
            </a:r>
            <a:r>
              <a:rPr lang="en-US" dirty="0"/>
              <a:t> phase of the training process as an evaluation metric, TTA is a technique used during inference, not during training. It improves the model performance  by applying multiple augmented versions of the same input, getting predictions for each, and then combining the results, this gives more stable predictions. </a:t>
            </a:r>
          </a:p>
          <a:p>
            <a:endParaRPr lang="en-GB" dirty="0"/>
          </a:p>
        </p:txBody>
      </p:sp>
    </p:spTree>
    <p:extLst>
      <p:ext uri="{BB962C8B-B14F-4D97-AF65-F5344CB8AC3E}">
        <p14:creationId xmlns:p14="http://schemas.microsoft.com/office/powerpoint/2010/main" val="20923903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493958-4B47-33FB-EA7D-5C8B1E9EC644}"/>
              </a:ext>
            </a:extLst>
          </p:cNvPr>
          <p:cNvSpPr txBox="1"/>
          <p:nvPr/>
        </p:nvSpPr>
        <p:spPr>
          <a:xfrm>
            <a:off x="993058" y="737419"/>
            <a:ext cx="9802761" cy="3416320"/>
          </a:xfrm>
          <a:prstGeom prst="rect">
            <a:avLst/>
          </a:prstGeom>
          <a:noFill/>
        </p:spPr>
        <p:txBody>
          <a:bodyPr wrap="square" rtlCol="0">
            <a:spAutoFit/>
          </a:bodyPr>
          <a:lstStyle/>
          <a:p>
            <a:r>
              <a:rPr lang="en-US" dirty="0"/>
              <a:t>Problems with attempt #5:</a:t>
            </a:r>
          </a:p>
          <a:p>
            <a:pPr marL="285750" indent="-285750">
              <a:buFont typeface="Arial" panose="020B0604020202020204" pitchFamily="34" charset="0"/>
              <a:buChar char="•"/>
            </a:pPr>
            <a:r>
              <a:rPr lang="en-US" dirty="0"/>
              <a:t>Loss values during the training was reaching 2000+ which is a huge value for loss as it was accumulating the raw loss values incorrectly. In the code particularly in the </a:t>
            </a:r>
            <a:r>
              <a:rPr lang="en-US" dirty="0" err="1"/>
              <a:t>train_one_epoch</a:t>
            </a:r>
            <a:r>
              <a:rPr lang="en-US" dirty="0"/>
              <a:t> function the metrics are updated correctly inside the else: block where the </a:t>
            </a:r>
            <a:r>
              <a:rPr lang="en-US" dirty="0" err="1"/>
              <a:t>mixup</a:t>
            </a:r>
            <a:r>
              <a:rPr lang="en-US" dirty="0"/>
              <a:t> is disabled for that patch. However the same metric update code is run again outside the if/else block, meaning it executes for every batch in the data loader, regardless of whether or not </a:t>
            </a:r>
            <a:r>
              <a:rPr lang="en-US" dirty="0" err="1"/>
              <a:t>Mixup</a:t>
            </a:r>
            <a:r>
              <a:rPr lang="en-US" dirty="0"/>
              <a:t> was used. This means that for the batches where </a:t>
            </a:r>
            <a:r>
              <a:rPr lang="en-US" dirty="0" err="1"/>
              <a:t>mixup</a:t>
            </a:r>
            <a:r>
              <a:rPr lang="en-US" dirty="0"/>
              <a:t> is skipped, the loss and accuracy metrics are added to the running total twice</a:t>
            </a:r>
            <a:endParaRPr lang="en-GB" dirty="0"/>
          </a:p>
          <a:p>
            <a:pPr marL="285750" indent="-285750">
              <a:buFont typeface="Arial" panose="020B0604020202020204" pitchFamily="34" charset="0"/>
              <a:buChar char="•"/>
            </a:pPr>
            <a:r>
              <a:rPr lang="en-US" dirty="0"/>
              <a:t>Training was taking too long as we were running it on laptops CPU instead of GPU, possibly also due to the gradual unfreezing strategy we were using in the training process </a:t>
            </a:r>
          </a:p>
          <a:p>
            <a:pPr marL="285750" indent="-285750">
              <a:buFont typeface="Arial" panose="020B0604020202020204" pitchFamily="34" charset="0"/>
              <a:buChar char="•"/>
            </a:pPr>
            <a:r>
              <a:rPr lang="en-US" dirty="0"/>
              <a:t>Augmentations may be too much as the model shows slight underfitting </a:t>
            </a:r>
          </a:p>
          <a:p>
            <a:endParaRPr lang="en-US" dirty="0"/>
          </a:p>
        </p:txBody>
      </p:sp>
    </p:spTree>
    <p:extLst>
      <p:ext uri="{BB962C8B-B14F-4D97-AF65-F5344CB8AC3E}">
        <p14:creationId xmlns:p14="http://schemas.microsoft.com/office/powerpoint/2010/main" val="2045621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522B7F-D443-EB0A-40FC-094C4E761B19}"/>
              </a:ext>
            </a:extLst>
          </p:cNvPr>
          <p:cNvSpPr txBox="1"/>
          <p:nvPr/>
        </p:nvSpPr>
        <p:spPr>
          <a:xfrm>
            <a:off x="137652" y="206478"/>
            <a:ext cx="11946193" cy="5355312"/>
          </a:xfrm>
          <a:prstGeom prst="rect">
            <a:avLst/>
          </a:prstGeom>
          <a:noFill/>
        </p:spPr>
        <p:txBody>
          <a:bodyPr wrap="square" rtlCol="0">
            <a:spAutoFit/>
          </a:bodyPr>
          <a:lstStyle/>
          <a:p>
            <a:r>
              <a:rPr lang="en-US" dirty="0"/>
              <a:t>FER attempt #6: </a:t>
            </a:r>
          </a:p>
          <a:p>
            <a:r>
              <a:rPr lang="en-US" dirty="0"/>
              <a:t>Train accuracy: 78.3%, validation accuracy: 72.8% </a:t>
            </a:r>
          </a:p>
          <a:p>
            <a:r>
              <a:rPr lang="en-US" dirty="0"/>
              <a:t>Data loading: the data is loaded using the gather image paths and labels function and then a 85/15 stratified split is done to get the validation dataset. Both datasets are cached to the RAM for quick access during the training process, </a:t>
            </a:r>
          </a:p>
          <a:p>
            <a:r>
              <a:rPr lang="en-US" dirty="0"/>
              <a:t>Data preprocessing: both datasets are resized to 224x224 and the train dataset is converted to tensors and the validation dataset is normalized </a:t>
            </a:r>
          </a:p>
          <a:p>
            <a:r>
              <a:rPr lang="en-US" dirty="0"/>
              <a:t>Data augmentation: we implemented the following: random horizontal flip, random rotation up to 20 degrees, affine transformations (translation/scaling), random distortion of 0.2, a color jitter, random erasing with a probability of 0.3, </a:t>
            </a:r>
            <a:r>
              <a:rPr lang="en-US" dirty="0" err="1"/>
              <a:t>mixup</a:t>
            </a:r>
            <a:r>
              <a:rPr lang="en-US" dirty="0"/>
              <a:t> and finally </a:t>
            </a:r>
            <a:r>
              <a:rPr lang="en-US" dirty="0" err="1"/>
              <a:t>cutmix</a:t>
            </a:r>
            <a:r>
              <a:rPr lang="en-US" dirty="0"/>
              <a:t>. During training the loop randomly selects between </a:t>
            </a:r>
            <a:r>
              <a:rPr lang="en-US" dirty="0" err="1"/>
              <a:t>mixup</a:t>
            </a:r>
            <a:r>
              <a:rPr lang="en-US" dirty="0"/>
              <a:t> or </a:t>
            </a:r>
            <a:r>
              <a:rPr lang="en-US" dirty="0" err="1"/>
              <a:t>cutmix</a:t>
            </a:r>
            <a:r>
              <a:rPr lang="en-US" dirty="0"/>
              <a:t> or none for each batch  </a:t>
            </a:r>
          </a:p>
          <a:p>
            <a:r>
              <a:rPr lang="en-US" dirty="0"/>
              <a:t>Detection model: the code we made supports resnet18, resnet34 and resnet50 but defaults to 34 initialized with pre-trained weights. </a:t>
            </a:r>
          </a:p>
          <a:p>
            <a:r>
              <a:rPr lang="en-US" dirty="0"/>
              <a:t>Classification model: a custom classification head is used and consists of a 3-layer </a:t>
            </a:r>
            <a:r>
              <a:rPr lang="en-US" dirty="0" err="1"/>
              <a:t>mlp</a:t>
            </a:r>
            <a:r>
              <a:rPr lang="en-US" dirty="0"/>
              <a:t>, the layers are as follows: </a:t>
            </a:r>
          </a:p>
          <a:p>
            <a:pPr lvl="0" eaLnBrk="0" fontAlgn="base" hangingPunct="0">
              <a:spcBef>
                <a:spcPct val="0"/>
              </a:spcBef>
              <a:spcAft>
                <a:spcPct val="0"/>
              </a:spcAft>
              <a:buFontTx/>
              <a:buChar char="•"/>
            </a:pPr>
            <a:r>
              <a:rPr lang="en-US" altLang="en-US" b="1" dirty="0">
                <a:latin typeface="Google Sans Text"/>
              </a:rPr>
              <a:t>Layer 1:</a:t>
            </a:r>
            <a:r>
              <a:rPr lang="en-US" altLang="en-US" dirty="0">
                <a:latin typeface="Google Sans Text"/>
              </a:rPr>
              <a:t> Linear (In </a:t>
            </a:r>
            <a:r>
              <a:rPr lang="en-US" altLang="en-US" dirty="0">
                <a:latin typeface="Google Sans Text"/>
                <a:sym typeface="Wingdings" panose="05000000000000000000" pitchFamily="2" charset="2"/>
              </a:rPr>
              <a:t></a:t>
            </a:r>
            <a:r>
              <a:rPr lang="en-US" altLang="en-US" dirty="0">
                <a:latin typeface="Google Sans Text"/>
              </a:rPr>
              <a:t> 1024) + </a:t>
            </a:r>
            <a:r>
              <a:rPr lang="en-US" altLang="en-US" dirty="0" err="1">
                <a:latin typeface="Google Sans Text"/>
              </a:rPr>
              <a:t>BatchNorm</a:t>
            </a:r>
            <a:r>
              <a:rPr lang="en-US" altLang="en-US" dirty="0">
                <a:latin typeface="Google Sans Text"/>
              </a:rPr>
              <a:t> + </a:t>
            </a:r>
            <a:r>
              <a:rPr lang="en-US" altLang="en-US" dirty="0" err="1">
                <a:latin typeface="Google Sans Text"/>
              </a:rPr>
              <a:t>ReLU</a:t>
            </a:r>
            <a:r>
              <a:rPr lang="en-US" altLang="en-US" dirty="0">
                <a:latin typeface="Google Sans Text"/>
              </a:rPr>
              <a:t> + Dropout.</a:t>
            </a:r>
          </a:p>
          <a:p>
            <a:pPr lvl="0" eaLnBrk="0" fontAlgn="base" hangingPunct="0">
              <a:spcBef>
                <a:spcPct val="0"/>
              </a:spcBef>
              <a:spcAft>
                <a:spcPct val="0"/>
              </a:spcAft>
              <a:buFontTx/>
              <a:buChar char="•"/>
            </a:pPr>
            <a:r>
              <a:rPr lang="en-US" altLang="en-US" b="1" dirty="0">
                <a:latin typeface="Google Sans Text"/>
              </a:rPr>
              <a:t>Layer 2:</a:t>
            </a:r>
            <a:r>
              <a:rPr lang="en-US" altLang="en-US" dirty="0">
                <a:latin typeface="Google Sans Text"/>
              </a:rPr>
              <a:t> Linear (1024 </a:t>
            </a:r>
            <a:r>
              <a:rPr lang="en-US" altLang="en-US" dirty="0">
                <a:latin typeface="Google Sans Text"/>
                <a:sym typeface="Wingdings" panose="05000000000000000000" pitchFamily="2" charset="2"/>
              </a:rPr>
              <a:t></a:t>
            </a:r>
            <a:r>
              <a:rPr lang="en-US" altLang="en-US" dirty="0">
                <a:latin typeface="Google Sans Text"/>
              </a:rPr>
              <a:t> 512) + </a:t>
            </a:r>
            <a:r>
              <a:rPr lang="en-US" altLang="en-US" dirty="0" err="1">
                <a:latin typeface="Google Sans Text"/>
              </a:rPr>
              <a:t>BatchNorm</a:t>
            </a:r>
            <a:r>
              <a:rPr lang="en-US" altLang="en-US" dirty="0">
                <a:latin typeface="Google Sans Text"/>
              </a:rPr>
              <a:t> + </a:t>
            </a:r>
            <a:r>
              <a:rPr lang="en-US" altLang="en-US" dirty="0" err="1">
                <a:latin typeface="Google Sans Text"/>
              </a:rPr>
              <a:t>ReLU</a:t>
            </a:r>
            <a:r>
              <a:rPr lang="en-US" altLang="en-US" dirty="0">
                <a:latin typeface="Google Sans Text"/>
              </a:rPr>
              <a:t> + Dropout.</a:t>
            </a:r>
          </a:p>
          <a:p>
            <a:pPr lvl="0" eaLnBrk="0" fontAlgn="base" hangingPunct="0">
              <a:spcBef>
                <a:spcPct val="0"/>
              </a:spcBef>
              <a:spcAft>
                <a:spcPct val="0"/>
              </a:spcAft>
              <a:buFontTx/>
              <a:buChar char="•"/>
            </a:pPr>
            <a:r>
              <a:rPr lang="en-US" altLang="en-US" b="1" dirty="0">
                <a:latin typeface="Google Sans Text"/>
              </a:rPr>
              <a:t>Layer 3:</a:t>
            </a:r>
            <a:r>
              <a:rPr lang="en-US" altLang="en-US" dirty="0">
                <a:latin typeface="Google Sans Text"/>
              </a:rPr>
              <a:t> Linear (512 </a:t>
            </a:r>
            <a:r>
              <a:rPr lang="en-US" altLang="en-US" dirty="0">
                <a:latin typeface="Google Sans Text"/>
                <a:sym typeface="Wingdings" panose="05000000000000000000" pitchFamily="2" charset="2"/>
              </a:rPr>
              <a:t> </a:t>
            </a:r>
            <a:r>
              <a:rPr lang="en-US" altLang="en-US" dirty="0" err="1">
                <a:latin typeface="Google Sans Text"/>
                <a:sym typeface="Wingdings" panose="05000000000000000000" pitchFamily="2" charset="2"/>
              </a:rPr>
              <a:t>Num_of_classes</a:t>
            </a:r>
            <a:r>
              <a:rPr lang="en-US" altLang="en-US" dirty="0">
                <a:latin typeface="Google Sans Text"/>
                <a:sym typeface="Wingdings" panose="05000000000000000000" pitchFamily="2" charset="2"/>
              </a:rPr>
              <a:t>) A high dropout rate (0.25-0.5) is used to control overfitting</a:t>
            </a:r>
            <a:r>
              <a:rPr lang="en-US" dirty="0"/>
              <a:t>	</a:t>
            </a:r>
          </a:p>
          <a:p>
            <a:r>
              <a:rPr lang="en-US" dirty="0"/>
              <a:t>Training config: </a:t>
            </a:r>
            <a:r>
              <a:rPr lang="en-US" dirty="0" err="1"/>
              <a:t>labelsmoothingcrossentropy</a:t>
            </a:r>
            <a:r>
              <a:rPr lang="en-US" dirty="0"/>
              <a:t> was used this time to improve the generalization of the model, for the class weights it calculates the inverse </a:t>
            </a:r>
            <a:r>
              <a:rPr lang="en-US" dirty="0" err="1"/>
              <a:t>frequencty</a:t>
            </a:r>
            <a:r>
              <a:rPr lang="en-US" dirty="0"/>
              <a:t> of each class to penalize the model for misclassifying rare emotions. </a:t>
            </a:r>
            <a:r>
              <a:rPr lang="en-US" dirty="0" err="1"/>
              <a:t>AdamW</a:t>
            </a:r>
            <a:r>
              <a:rPr lang="en-US" dirty="0"/>
              <a:t> optimizer with LR=0.0003 and decay=0.0002 was used. </a:t>
            </a:r>
            <a:r>
              <a:rPr lang="en-US" dirty="0" err="1"/>
              <a:t>OneCycleLR</a:t>
            </a:r>
            <a:r>
              <a:rPr lang="en-US" dirty="0"/>
              <a:t> was used as the scheduler. </a:t>
            </a:r>
          </a:p>
          <a:p>
            <a:r>
              <a:rPr lang="en-GB" dirty="0"/>
              <a:t>TTA was also used to boost accuracy of the model by 1-2%</a:t>
            </a:r>
            <a:endParaRPr lang="en-US" dirty="0"/>
          </a:p>
        </p:txBody>
      </p:sp>
    </p:spTree>
    <p:extLst>
      <p:ext uri="{BB962C8B-B14F-4D97-AF65-F5344CB8AC3E}">
        <p14:creationId xmlns:p14="http://schemas.microsoft.com/office/powerpoint/2010/main" val="756093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2E8D320-0102-F073-DF98-FEEBA1EF5E8A}"/>
              </a:ext>
            </a:extLst>
          </p:cNvPr>
          <p:cNvSpPr txBox="1"/>
          <p:nvPr/>
        </p:nvSpPr>
        <p:spPr>
          <a:xfrm>
            <a:off x="993058" y="737419"/>
            <a:ext cx="9802761" cy="4801314"/>
          </a:xfrm>
          <a:prstGeom prst="rect">
            <a:avLst/>
          </a:prstGeom>
          <a:noFill/>
        </p:spPr>
        <p:txBody>
          <a:bodyPr wrap="square" rtlCol="0">
            <a:spAutoFit/>
          </a:bodyPr>
          <a:lstStyle/>
          <a:p>
            <a:r>
              <a:rPr lang="en-US" dirty="0"/>
              <a:t>Problems with </a:t>
            </a:r>
            <a:r>
              <a:rPr lang="en-US"/>
              <a:t>attempt #6:</a:t>
            </a:r>
            <a:endParaRPr lang="en-US" dirty="0"/>
          </a:p>
          <a:p>
            <a:pPr marL="285750" indent="-285750">
              <a:buFont typeface="Arial" panose="020B0604020202020204" pitchFamily="34" charset="0"/>
              <a:buChar char="•"/>
            </a:pPr>
            <a:r>
              <a:rPr lang="en-US" dirty="0"/>
              <a:t>Augmentations used to combat overfitting could be harmful to the information the model receives, augmentations like random erasing and </a:t>
            </a:r>
            <a:r>
              <a:rPr lang="en-US" dirty="0" err="1"/>
              <a:t>cutmix</a:t>
            </a:r>
            <a:r>
              <a:rPr lang="en-US" dirty="0"/>
              <a:t> could result in the emotion </a:t>
            </a:r>
            <a:r>
              <a:rPr lang="en-US" dirty="0" err="1"/>
              <a:t>diplayed</a:t>
            </a:r>
            <a:r>
              <a:rPr lang="en-US" dirty="0"/>
              <a:t> losing it’s semantic meaning effectively confusing the model. </a:t>
            </a:r>
          </a:p>
          <a:p>
            <a:pPr marL="285750" indent="-285750">
              <a:buFont typeface="Arial" panose="020B0604020202020204" pitchFamily="34" charset="0"/>
              <a:buChar char="•"/>
            </a:pPr>
            <a:r>
              <a:rPr lang="en-US" dirty="0"/>
              <a:t>Severe class imbalance still persists, and even though we try to combat that by using class related weights in the loss function, it might not be as effective as weighted random sampling, which is where each batch constructed has every emotion appearing with equal probability. </a:t>
            </a:r>
          </a:p>
          <a:p>
            <a:pPr marL="285750" indent="-285750">
              <a:buFont typeface="Arial" panose="020B0604020202020204" pitchFamily="34" charset="0"/>
              <a:buChar char="•"/>
            </a:pPr>
            <a:r>
              <a:rPr lang="en-US" dirty="0"/>
              <a:t>We could implement attention to force the model to focus on certain coordinates on the image that are of extreme importance like the eyes, mouth etc. so we could make an enhanced classifier that integrates coordinate attention or Squeeze and excitation </a:t>
            </a:r>
          </a:p>
          <a:p>
            <a:pPr marL="285750" indent="-285750">
              <a:buFont typeface="Arial" panose="020B0604020202020204" pitchFamily="34" charset="0"/>
              <a:buChar char="•"/>
            </a:pPr>
            <a:r>
              <a:rPr lang="en-US" dirty="0"/>
              <a:t>We could also change the backbone architecture of the detection model and use a vision transformer </a:t>
            </a:r>
          </a:p>
          <a:p>
            <a:pPr marL="285750" indent="-285750">
              <a:buFont typeface="Arial" panose="020B0604020202020204" pitchFamily="34" charset="0"/>
              <a:buChar char="•"/>
            </a:pPr>
            <a:r>
              <a:rPr lang="en-US" dirty="0"/>
              <a:t>We could also integrate gradual unfreezing </a:t>
            </a:r>
          </a:p>
          <a:p>
            <a:pPr marL="285750" indent="-285750">
              <a:buFont typeface="Arial" panose="020B0604020202020204" pitchFamily="34" charset="0"/>
              <a:buChar char="•"/>
            </a:pPr>
            <a:r>
              <a:rPr lang="en-US" dirty="0"/>
              <a:t>In the post-processing step, we could train 3 separate models </a:t>
            </a:r>
            <a:r>
              <a:rPr lang="en-GB" dirty="0"/>
              <a:t>(e.g., one ResNet34, one </a:t>
            </a:r>
            <a:r>
              <a:rPr lang="en-GB" dirty="0" err="1"/>
              <a:t>EfficientNet</a:t>
            </a:r>
            <a:r>
              <a:rPr lang="en-GB" dirty="0"/>
              <a:t>, one ResNet18) and then average their predictions. Errors in one model are often cancelled out by the others </a:t>
            </a:r>
            <a:endParaRPr lang="en-US" dirty="0"/>
          </a:p>
          <a:p>
            <a:endParaRPr lang="en-US" dirty="0"/>
          </a:p>
        </p:txBody>
      </p:sp>
    </p:spTree>
    <p:extLst>
      <p:ext uri="{BB962C8B-B14F-4D97-AF65-F5344CB8AC3E}">
        <p14:creationId xmlns:p14="http://schemas.microsoft.com/office/powerpoint/2010/main" val="4180089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833</TotalTime>
  <Words>2386</Words>
  <Application>Microsoft Office PowerPoint</Application>
  <PresentationFormat>Widescreen</PresentationFormat>
  <Paragraphs>143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Google Sans Text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Adam Kenan</dc:creator>
  <cp:lastModifiedBy>Adam Kenan</cp:lastModifiedBy>
  <cp:revision>5</cp:revision>
  <dcterms:created xsi:type="dcterms:W3CDTF">2025-12-08T08:55:12Z</dcterms:created>
  <dcterms:modified xsi:type="dcterms:W3CDTF">2025-12-15T15:38:37Z</dcterms:modified>
</cp:coreProperties>
</file>